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oppins" panose="00000500000000000000" pitchFamily="2" charset="0"/>
      <p:regular r:id="rId11"/>
    </p:embeddedFont>
    <p:embeddedFont>
      <p:font typeface="Poppins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43" y="4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B6371-4E56-4C5A-B97D-C48C49A73708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2AE74-4DB5-4CE4-9980-5A73CF8453C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184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Buongiorno a tutti.</a:t>
            </a:r>
          </a:p>
          <a:p>
            <a:endParaRPr lang="it-IT" dirty="0"/>
          </a:p>
          <a:p>
            <a:r>
              <a:rPr lang="it-IT" dirty="0"/>
              <a:t>Mi chiamo Teodorina — sono una studentessa prossima alla laurea all'ITS Olivetti di Cesena, e attualmente sto completando il mio tirocinio come AI Productivity Specialist.</a:t>
            </a:r>
          </a:p>
          <a:p>
            <a:endParaRPr lang="it-IT" dirty="0"/>
          </a:p>
          <a:p>
            <a:r>
              <a:rPr lang="it-IT" dirty="0"/>
              <a:t>La mia passione per l'IT e il machine learning è nata da una profonda sete di curiosità — avevo voglia di scoprire territori che la mia mente non aveva mai esplorato prima.</a:t>
            </a:r>
          </a:p>
          <a:p>
            <a:endParaRPr lang="it-IT" dirty="0"/>
          </a:p>
          <a:p>
            <a:r>
              <a:rPr lang="it-IT" dirty="0"/>
              <a:t>Ho iniziato questo percorso chiedendomi cosa si nasconde dietro i dati. Con l'ansia di come tenere il passo in un'era di sviluppo tecnologico così rapido.</a:t>
            </a:r>
          </a:p>
          <a:p>
            <a:endParaRPr lang="it-IT" dirty="0"/>
          </a:p>
          <a:p>
            <a:r>
              <a:rPr lang="it-IT" dirty="0"/>
              <a:t>Così ho trasformato quella paura in perseveranza. Ho abbracciato il cambiamento — e l'ho reso il mio partner.</a:t>
            </a:r>
          </a:p>
          <a:p>
            <a:endParaRPr lang="it-IT" dirty="0"/>
          </a:p>
          <a:p>
            <a:r>
              <a:rPr lang="it-IT" dirty="0"/>
              <a:t>Oggi affronto l'AI senza paura. La testo nella nostra vita quotidiana, per lasciare più spazio a ciò che gli esseri umani sanno fare meglio — la creatività.</a:t>
            </a:r>
          </a:p>
          <a:p>
            <a:endParaRPr lang="it-IT" dirty="0"/>
          </a:p>
          <a:p>
            <a:r>
              <a:rPr lang="it-IT" dirty="0"/>
              <a:t>A proposito — oggi vorrei testare qualcosa insieme a voi. La mia ultima creazione mi aiuterà a trasmettere meglio i miei pensieri e a tradurli dall'inglese — come avrete notato, l'italiano non è la mia lingua madre.</a:t>
            </a:r>
          </a:p>
          <a:p>
            <a:endParaRPr lang="it-IT" dirty="0"/>
          </a:p>
          <a:p>
            <a:r>
              <a:rPr lang="it-IT" dirty="0"/>
              <a:t>Jarvis — are you up?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2AE74-4DB5-4CE4-9980-5A73CF8453C2}" type="slidenum">
              <a:rPr lang="it-IT" smtClean="0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are into AI, you have probably already heard the term Vibe Coding.</a:t>
            </a:r>
          </a:p>
          <a:p>
            <a:endParaRPr lang="en-US" dirty="0"/>
          </a:p>
          <a:p>
            <a:r>
              <a:rPr lang="en-US" dirty="0"/>
              <a:t>As you can see on the timeline, AI started in 1956 at Dartmouth. Deep learning exploded in 2012. Google created the Transformer in 2017. GPT-3 arrived in 2020. GitHub Copilot launched in 2022. And in February 2025 — Andrej Karpathy coined Vibe Coding.</a:t>
            </a:r>
          </a:p>
          <a:p>
            <a:endParaRPr lang="en-US" dirty="0"/>
          </a:p>
          <a:p>
            <a:r>
              <a:rPr lang="en-US" dirty="0"/>
              <a:t>His idea was simple: stop thinking about the code. Describe what you want. AI builds it for you.</a:t>
            </a:r>
          </a:p>
          <a:p>
            <a:endParaRPr lang="en-US" dirty="0"/>
          </a:p>
          <a:p>
            <a:r>
              <a:rPr lang="en-US" dirty="0"/>
              <a:t>The prompt is the new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2AE74-4DB5-4CE4-9980-5A73CF8453C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speak for themselves.</a:t>
            </a:r>
          </a:p>
          <a:p>
            <a:endParaRPr lang="en-US"/>
          </a:p>
          <a:p>
            <a:r>
              <a:rPr lang="en-US" dirty="0"/>
              <a:t>84% of developers worldwide already use AI tools. 41% of all code written today is AI-generated. 51% use it daily. 90% adoption among professionals.</a:t>
            </a:r>
          </a:p>
          <a:p>
            <a:endParaRPr lang="en-US"/>
          </a:p>
          <a:p>
            <a:r>
              <a:rPr lang="en-US" dirty="0"/>
              <a:t>And big tech? Anthropic — the company behind Claude — 80 percent AI-generated code. Meta at 50. Google at 30.</a:t>
            </a:r>
          </a:p>
          <a:p>
            <a:endParaRPr lang="en-US"/>
          </a:p>
          <a:p>
            <a:r>
              <a:rPr lang="en-US" dirty="0"/>
              <a:t>25% of Y Combinator startups have codebases that are 95% or more written by AI.</a:t>
            </a:r>
          </a:p>
          <a:p>
            <a:endParaRPr lang="en-US"/>
          </a:p>
          <a:p>
            <a:r>
              <a:rPr lang="en-US" dirty="0"/>
              <a:t>The adoption is real. The trust? Still catching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2AE74-4DB5-4CE4-9980-5A73CF8453C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most important elements of vibe coding is prompt creation.</a:t>
            </a:r>
          </a:p>
          <a:p>
            <a:endParaRPr lang="en-US"/>
          </a:p>
          <a:p>
            <a:r>
              <a:rPr lang="en-US" dirty="0"/>
              <a:t>On the left you see the tools — for creating prompts and for building. Claude, ChatGPT, Gemini for thinking. Lovable, Cursor, Bolt for building.</a:t>
            </a:r>
          </a:p>
          <a:p>
            <a:endParaRPr lang="en-US"/>
          </a:p>
          <a:p>
            <a:r>
              <a:rPr lang="en-US" dirty="0"/>
              <a:t>On the right — the six must-haves for a perfect prompt: goal, audience, design, functionality, language, and technical constraints.</a:t>
            </a:r>
          </a:p>
          <a:p>
            <a:endParaRPr lang="en-US"/>
          </a:p>
          <a:p>
            <a:r>
              <a:rPr lang="en-US" dirty="0"/>
              <a:t>These six make the difference between a demo and a product.</a:t>
            </a:r>
          </a:p>
          <a:p>
            <a:endParaRPr lang="en-US"/>
          </a:p>
          <a:p>
            <a:r>
              <a:rPr lang="en-US" dirty="0"/>
              <a:t>Jarvis, start the timer.</a:t>
            </a:r>
          </a:p>
          <a:p>
            <a:endParaRPr lang="en-US"/>
          </a:p>
          <a:p>
            <a:r>
              <a:rPr lang="en-US" dirty="0"/>
              <a:t>Jarvis, how much time we have left?</a:t>
            </a:r>
          </a:p>
          <a:p>
            <a:endParaRPr lang="en-US"/>
          </a:p>
          <a:p>
            <a:r>
              <a:rPr lang="en-US" dirty="0"/>
              <a:t>Perfect. Let's demonstrate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2AE74-4DB5-4CE4-9980-5A73CF8453C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Jarvis, I need you to create a perfect prompt for a ready-to-publish learning platform. A cybersecurity awareness platform called Cyber Fun — for the whole family. Clean, minimal, bilingual. Learning section, games, phishing detector, password checker, cyber hygiene quiz, and a live world threat map. Proceed in Lovable.</a:t>
            </a:r>
          </a:p>
          <a:p>
            <a:endParaRPr lang="en-US" dirty="0"/>
          </a:p>
          <a:p>
            <a:r>
              <a:rPr lang="en-US" dirty="0"/>
              <a:t>Let's run it.</a:t>
            </a:r>
          </a:p>
          <a:p>
            <a:endParaRPr lang="en-US" dirty="0"/>
          </a:p>
          <a:p>
            <a:r>
              <a:rPr lang="en-US" dirty="0"/>
              <a:t>Jarvis, do the check.</a:t>
            </a:r>
          </a:p>
          <a:p>
            <a:endParaRPr lang="en-US" dirty="0"/>
          </a:p>
          <a:p>
            <a:r>
              <a:rPr lang="en-US" dirty="0"/>
              <a:t>J., share the platform with the audience.</a:t>
            </a:r>
          </a:p>
          <a:p>
            <a:endParaRPr lang="en-US" dirty="0"/>
          </a:p>
          <a:p>
            <a:r>
              <a:rPr lang="en-US" dirty="0"/>
              <a:t>Scan it — try it tonight with your family.</a:t>
            </a:r>
          </a:p>
          <a:p>
            <a:endParaRPr lang="en-US" dirty="0"/>
          </a:p>
          <a:p>
            <a:r>
              <a:rPr lang="en-US" dirty="0"/>
              <a:t>J., back to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2AE74-4DB5-4CE4-9980-5A73CF8453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51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you saw — that was only the beginning.</a:t>
            </a:r>
          </a:p>
          <a:p>
            <a:endParaRPr lang="en-US"/>
          </a:p>
          <a:p>
            <a:r>
              <a:rPr lang="en-US" dirty="0"/>
              <a:t>The next steps are on screen: plan and design, build, test, security audit — which you never skip — version control, deploy, domain, and share.</a:t>
            </a:r>
          </a:p>
          <a:p>
            <a:endParaRPr lang="en-US"/>
          </a:p>
          <a:p>
            <a:r>
              <a:rPr lang="en-US" dirty="0"/>
              <a:t>A complete project in three to five days. No dev team needed.</a:t>
            </a:r>
          </a:p>
          <a:p>
            <a:endParaRPr lang="en-US"/>
          </a:p>
          <a:p>
            <a:r>
              <a:rPr lang="en-US" dirty="0"/>
              <a:t>But — with at least the basics. Vibe coding amplifies your skills. It does not replace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2AE74-4DB5-4CE4-9980-5A73CF8453C2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— the pros: rapid prototyping, accessible to everyone, more creativity, reduced cost.</a:t>
            </a:r>
          </a:p>
          <a:p>
            <a:endParaRPr lang="en-US"/>
          </a:p>
          <a:p>
            <a:r>
              <a:rPr lang="en-US" dirty="0"/>
              <a:t>The cons: security needs checking, debugging is harder, trust is still low at 29%, and it requires solid foundations.</a:t>
            </a:r>
          </a:p>
          <a:p>
            <a:endParaRPr lang="en-US"/>
          </a:p>
          <a:p>
            <a:r>
              <a:rPr lang="en-US" dirty="0"/>
              <a:t>Learn first. Then vibe.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2AE74-4DB5-4CE4-9980-5A73CF8453C2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È tutto da parte mia.</a:t>
            </a:r>
          </a:p>
          <a:p>
            <a:endParaRPr lang="it-IT" dirty="0"/>
          </a:p>
          <a:p>
            <a:r>
              <a:rPr lang="it-IT" dirty="0"/>
              <a:t>Vi invito a salvare il QR sullo schermo, esplorare Cyber Fun, e inviare domande e feedback anche dopo l'evento.</a:t>
            </a:r>
          </a:p>
          <a:p>
            <a:endParaRPr lang="it-IT" dirty="0"/>
          </a:p>
          <a:p>
            <a:r>
              <a:rPr lang="it-IT" dirty="0"/>
              <a:t>Grazie agli organizzatori per l'accoglienza e questa opportunità.</a:t>
            </a:r>
          </a:p>
          <a:p>
            <a:endParaRPr lang="it-IT" dirty="0"/>
          </a:p>
          <a:p>
            <a:r>
              <a:rPr lang="it-IT" dirty="0"/>
              <a:t>Grazie all'ITS Olivetti di Cesena per il percorso che mi ha portata qui oggi.</a:t>
            </a:r>
          </a:p>
          <a:p>
            <a:endParaRPr lang="it-IT" dirty="0"/>
          </a:p>
          <a:p>
            <a:r>
              <a:rPr lang="it-IT" dirty="0"/>
              <a:t>Grazie a tutti voi per essere stati un pubblico così presente e attento.</a:t>
            </a:r>
          </a:p>
          <a:p>
            <a:endParaRPr lang="it-IT" dirty="0"/>
          </a:p>
          <a:p>
            <a:r>
              <a:rPr lang="it-IT" dirty="0"/>
              <a:t>And last but not least — thank you to my partner, who today did more than his share.</a:t>
            </a:r>
          </a:p>
          <a:p>
            <a:endParaRPr lang="it-IT" dirty="0"/>
          </a:p>
          <a:p>
            <a:r>
              <a:rPr lang="it-IT" dirty="0"/>
              <a:t>Jarvis —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2AE74-4DB5-4CE4-9980-5A73CF8453C2}" type="slidenum">
              <a:rPr lang="it-IT" smtClean="0"/>
              <a:t>8</a:t>
            </a:fld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711E4F-D14E-2DDD-F6AA-CE2F54086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876425"/>
          </a:xfrm>
          <a:custGeom>
            <a:avLst/>
            <a:gdLst/>
            <a:ahLst/>
            <a:cxnLst/>
            <a:rect l="l" t="t" r="r" b="b"/>
            <a:pathLst>
              <a:path w="18288000" h="1876425">
                <a:moveTo>
                  <a:pt x="0" y="0"/>
                </a:moveTo>
                <a:lnTo>
                  <a:pt x="18288000" y="0"/>
                </a:lnTo>
                <a:lnTo>
                  <a:pt x="18288000" y="1876425"/>
                </a:lnTo>
                <a:lnTo>
                  <a:pt x="0" y="18764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</a:blip>
            <a:stretch>
              <a:fillRect t="-59916" b="-50814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AutoShape 3"/>
          <p:cNvSpPr/>
          <p:nvPr/>
        </p:nvSpPr>
        <p:spPr>
          <a:xfrm>
            <a:off x="1524000" y="829469"/>
            <a:ext cx="15240000" cy="0"/>
          </a:xfrm>
          <a:prstGeom prst="line">
            <a:avLst/>
          </a:prstGeom>
          <a:ln w="19050" cap="flat">
            <a:solidFill>
              <a:srgbClr val="8A8A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AutoShape 4"/>
          <p:cNvSpPr/>
          <p:nvPr/>
        </p:nvSpPr>
        <p:spPr>
          <a:xfrm>
            <a:off x="714375" y="2373815"/>
            <a:ext cx="16764000" cy="0"/>
          </a:xfrm>
          <a:prstGeom prst="line">
            <a:avLst/>
          </a:prstGeom>
          <a:ln w="9525" cap="flat">
            <a:solidFill>
              <a:srgbClr val="33333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015701" y="2955115"/>
            <a:ext cx="8604549" cy="10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05"/>
              </a:lnSpc>
              <a:spcBef>
                <a:spcPct val="0"/>
              </a:spcBef>
            </a:pPr>
            <a:r>
              <a:rPr lang="en-US" sz="5932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V I B E   C O D I N 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5701" y="4140704"/>
            <a:ext cx="8119533" cy="400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9"/>
              </a:lnSpc>
              <a:spcBef>
                <a:spcPct val="0"/>
              </a:spcBef>
            </a:pPr>
            <a:r>
              <a:rPr lang="en-US" sz="2235" i="1" u="none" strike="noStrike">
                <a:solidFill>
                  <a:srgbClr val="77777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Il prompt è la nuova sintassi.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5701" y="4919483"/>
            <a:ext cx="8119533" cy="103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07"/>
              </a:lnSpc>
              <a:spcBef>
                <a:spcPct val="0"/>
              </a:spcBef>
            </a:pPr>
            <a:r>
              <a:rPr lang="en-US" sz="169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Descrivi in linguaggio umano.</a:t>
            </a:r>
          </a:p>
          <a:p>
            <a:pPr marL="0" lvl="0" indent="0" algn="l">
              <a:lnSpc>
                <a:spcPts val="2707"/>
              </a:lnSpc>
              <a:spcBef>
                <a:spcPct val="0"/>
              </a:spcBef>
            </a:pPr>
            <a:r>
              <a:rPr lang="en-US" sz="169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L'AI scrive il codice.</a:t>
            </a:r>
          </a:p>
          <a:p>
            <a:pPr marL="0" lvl="0" indent="0" algn="l">
              <a:lnSpc>
                <a:spcPts val="2707"/>
              </a:lnSpc>
              <a:spcBef>
                <a:spcPct val="0"/>
              </a:spcBef>
            </a:pPr>
            <a:r>
              <a:rPr lang="en-US" sz="169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Tu revisioni, migliori, pubblichi.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8551" y="6620521"/>
            <a:ext cx="8604549" cy="2319867"/>
            <a:chOff x="0" y="0"/>
            <a:chExt cx="9421039" cy="254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21040" cy="2540000"/>
            </a:xfrm>
            <a:custGeom>
              <a:avLst/>
              <a:gdLst/>
              <a:ahLst/>
              <a:cxnLst/>
              <a:rect l="l" t="t" r="r" b="b"/>
              <a:pathLst>
                <a:path w="9421040" h="2540000">
                  <a:moveTo>
                    <a:pt x="229781" y="0"/>
                  </a:moveTo>
                  <a:lnTo>
                    <a:pt x="9191258" y="0"/>
                  </a:lnTo>
                  <a:cubicBezTo>
                    <a:pt x="9318163" y="0"/>
                    <a:pt x="9421040" y="113720"/>
                    <a:pt x="9421040" y="254000"/>
                  </a:cubicBezTo>
                  <a:lnTo>
                    <a:pt x="9421040" y="2286000"/>
                  </a:lnTo>
                  <a:cubicBezTo>
                    <a:pt x="9421040" y="2426280"/>
                    <a:pt x="9318163" y="2540000"/>
                    <a:pt x="9191258" y="2540000"/>
                  </a:cubicBezTo>
                  <a:lnTo>
                    <a:pt x="229781" y="2540000"/>
                  </a:lnTo>
                  <a:cubicBezTo>
                    <a:pt x="102877" y="2540000"/>
                    <a:pt x="0" y="2426280"/>
                    <a:pt x="0" y="2286000"/>
                  </a:cubicBezTo>
                  <a:lnTo>
                    <a:pt x="0" y="254000"/>
                  </a:lnTo>
                  <a:cubicBezTo>
                    <a:pt x="0" y="113720"/>
                    <a:pt x="102877" y="0"/>
                    <a:pt x="2297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9000"/>
                  </a:srgbClr>
                </a:gs>
                <a:gs pos="100000">
                  <a:srgbClr val="E8E8E8">
                    <a:alpha val="19000"/>
                  </a:srgbClr>
                </a:gs>
              </a:gsLst>
              <a:lin ang="0"/>
            </a:gradFill>
            <a:ln w="9525" cap="sq">
              <a:solidFill>
                <a:srgbClr val="555555">
                  <a:alpha val="1882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421039" cy="257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79674" y="6940984"/>
            <a:ext cx="7711951" cy="804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3"/>
              </a:lnSpc>
              <a:spcBef>
                <a:spcPct val="0"/>
              </a:spcBef>
            </a:pPr>
            <a:r>
              <a:rPr lang="en-US" sz="2135" i="1" u="none" strike="noStrike">
                <a:solidFill>
                  <a:srgbClr val="E0E0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« Lasciati andare ai vibe, dimentica</a:t>
            </a:r>
          </a:p>
          <a:p>
            <a:pPr marL="0" lvl="0" indent="0" algn="l">
              <a:lnSpc>
                <a:spcPts val="3203"/>
              </a:lnSpc>
              <a:spcBef>
                <a:spcPct val="0"/>
              </a:spcBef>
            </a:pPr>
            <a:r>
              <a:rPr lang="en-US" sz="2135" i="1" u="none" strike="noStrike">
                <a:solidFill>
                  <a:srgbClr val="E0E0E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 che il codice esiste. »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9674" y="7955291"/>
            <a:ext cx="6959600" cy="61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6"/>
              </a:lnSpc>
              <a:spcBef>
                <a:spcPct val="0"/>
              </a:spcBef>
            </a:pPr>
            <a:r>
              <a:rPr lang="en-US" sz="1704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— Andrej Karpathy, Febbraio 2025</a:t>
            </a:r>
          </a:p>
          <a:p>
            <a:pPr marL="0" lvl="0" indent="0" algn="l">
              <a:lnSpc>
                <a:spcPts val="2386"/>
              </a:lnSpc>
              <a:spcBef>
                <a:spcPct val="0"/>
              </a:spcBef>
            </a:pPr>
            <a:r>
              <a:rPr lang="en-US" sz="1704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 ex OpenAI · ex Tesla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63250" y="3202242"/>
            <a:ext cx="6818625" cy="1303561"/>
            <a:chOff x="0" y="0"/>
            <a:chExt cx="8636000" cy="1651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36000" cy="1651000"/>
            </a:xfrm>
            <a:custGeom>
              <a:avLst/>
              <a:gdLst/>
              <a:ahLst/>
              <a:cxnLst/>
              <a:rect l="l" t="t" r="r" b="b"/>
              <a:pathLst>
                <a:path w="8636000" h="1651000">
                  <a:moveTo>
                    <a:pt x="165100" y="0"/>
                  </a:moveTo>
                  <a:lnTo>
                    <a:pt x="8470900" y="0"/>
                  </a:lnTo>
                  <a:cubicBezTo>
                    <a:pt x="8562082" y="0"/>
                    <a:pt x="8636000" y="73918"/>
                    <a:pt x="8636000" y="165100"/>
                  </a:cubicBezTo>
                  <a:lnTo>
                    <a:pt x="8636000" y="1485900"/>
                  </a:lnTo>
                  <a:cubicBezTo>
                    <a:pt x="8636000" y="1577082"/>
                    <a:pt x="8562082" y="1651000"/>
                    <a:pt x="8470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636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064072" y="3448928"/>
            <a:ext cx="601643" cy="68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05"/>
              </a:lnSpc>
              <a:spcBef>
                <a:spcPct val="0"/>
              </a:spcBef>
            </a:pPr>
            <a:r>
              <a:rPr lang="en-US" sz="3789" u="none" strike="noStrike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65989" y="3315557"/>
            <a:ext cx="5013695" cy="40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2"/>
              </a:lnSpc>
              <a:spcBef>
                <a:spcPct val="0"/>
              </a:spcBef>
            </a:pPr>
            <a:r>
              <a:rPr lang="en-US" sz="2316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DESCRIVI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65989" y="3795867"/>
            <a:ext cx="5013695" cy="26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3"/>
              </a:lnSpc>
              <a:spcBef>
                <a:spcPct val="0"/>
              </a:spcBef>
            </a:pPr>
            <a:r>
              <a:rPr lang="en-US" sz="1473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in linguaggio umano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763250" y="4686296"/>
            <a:ext cx="6818625" cy="1303561"/>
            <a:chOff x="0" y="0"/>
            <a:chExt cx="8636000" cy="1651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636000" cy="1651000"/>
            </a:xfrm>
            <a:custGeom>
              <a:avLst/>
              <a:gdLst/>
              <a:ahLst/>
              <a:cxnLst/>
              <a:rect l="l" t="t" r="r" b="b"/>
              <a:pathLst>
                <a:path w="8636000" h="1651000">
                  <a:moveTo>
                    <a:pt x="165100" y="0"/>
                  </a:moveTo>
                  <a:lnTo>
                    <a:pt x="8470900" y="0"/>
                  </a:lnTo>
                  <a:cubicBezTo>
                    <a:pt x="8562082" y="0"/>
                    <a:pt x="8636000" y="73918"/>
                    <a:pt x="8636000" y="165100"/>
                  </a:cubicBezTo>
                  <a:lnTo>
                    <a:pt x="8636000" y="1485900"/>
                  </a:lnTo>
                  <a:cubicBezTo>
                    <a:pt x="8636000" y="1577082"/>
                    <a:pt x="8562082" y="1651000"/>
                    <a:pt x="8470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1000"/>
                  </a:srgbClr>
                </a:gs>
                <a:gs pos="100000">
                  <a:srgbClr val="E8E8E8">
                    <a:alpha val="21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2078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636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064072" y="4932982"/>
            <a:ext cx="601643" cy="68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05"/>
              </a:lnSpc>
              <a:spcBef>
                <a:spcPct val="0"/>
              </a:spcBef>
            </a:pPr>
            <a:r>
              <a:rPr lang="en-US" sz="3789" u="none" strike="noStrike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65989" y="4799611"/>
            <a:ext cx="5013695" cy="40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2"/>
              </a:lnSpc>
              <a:spcBef>
                <a:spcPct val="0"/>
              </a:spcBef>
            </a:pPr>
            <a:r>
              <a:rPr lang="en-US" sz="2316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AI COSTRUISCE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65989" y="5279921"/>
            <a:ext cx="5013695" cy="26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3"/>
              </a:lnSpc>
              <a:spcBef>
                <a:spcPct val="0"/>
              </a:spcBef>
            </a:pPr>
            <a:r>
              <a:rPr lang="en-US" sz="1473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scrive il codice per te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763250" y="6170349"/>
            <a:ext cx="6818625" cy="1303561"/>
            <a:chOff x="0" y="0"/>
            <a:chExt cx="8636000" cy="1651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636000" cy="1651000"/>
            </a:xfrm>
            <a:custGeom>
              <a:avLst/>
              <a:gdLst/>
              <a:ahLst/>
              <a:cxnLst/>
              <a:rect l="l" t="t" r="r" b="b"/>
              <a:pathLst>
                <a:path w="8636000" h="1651000">
                  <a:moveTo>
                    <a:pt x="165100" y="0"/>
                  </a:moveTo>
                  <a:lnTo>
                    <a:pt x="8470900" y="0"/>
                  </a:lnTo>
                  <a:cubicBezTo>
                    <a:pt x="8562082" y="0"/>
                    <a:pt x="8636000" y="73918"/>
                    <a:pt x="8636000" y="165100"/>
                  </a:cubicBezTo>
                  <a:lnTo>
                    <a:pt x="8636000" y="1485900"/>
                  </a:lnTo>
                  <a:cubicBezTo>
                    <a:pt x="8636000" y="1577082"/>
                    <a:pt x="8562082" y="1651000"/>
                    <a:pt x="8470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6000"/>
                  </a:srgbClr>
                </a:gs>
                <a:gs pos="100000">
                  <a:srgbClr val="E8E8E8">
                    <a:alpha val="16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5686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8636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1064072" y="6417035"/>
            <a:ext cx="601643" cy="68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05"/>
              </a:lnSpc>
              <a:spcBef>
                <a:spcPct val="0"/>
              </a:spcBef>
            </a:pPr>
            <a:r>
              <a:rPr lang="en-US" sz="3789" u="none" strike="noStrike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65989" y="6283665"/>
            <a:ext cx="5013695" cy="40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2"/>
              </a:lnSpc>
              <a:spcBef>
                <a:spcPct val="0"/>
              </a:spcBef>
            </a:pPr>
            <a:r>
              <a:rPr lang="en-US" sz="2316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REVISIONI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765989" y="6763975"/>
            <a:ext cx="5013695" cy="26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3"/>
              </a:lnSpc>
              <a:spcBef>
                <a:spcPct val="0"/>
              </a:spcBef>
            </a:pPr>
            <a:r>
              <a:rPr lang="en-US" sz="1473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iteri e migliori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763250" y="7654403"/>
            <a:ext cx="6818625" cy="1303561"/>
            <a:chOff x="0" y="0"/>
            <a:chExt cx="8636000" cy="1651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636000" cy="1651000"/>
            </a:xfrm>
            <a:custGeom>
              <a:avLst/>
              <a:gdLst/>
              <a:ahLst/>
              <a:cxnLst/>
              <a:rect l="l" t="t" r="r" b="b"/>
              <a:pathLst>
                <a:path w="8636000" h="1651000">
                  <a:moveTo>
                    <a:pt x="165100" y="0"/>
                  </a:moveTo>
                  <a:lnTo>
                    <a:pt x="8470900" y="0"/>
                  </a:lnTo>
                  <a:cubicBezTo>
                    <a:pt x="8562082" y="0"/>
                    <a:pt x="8636000" y="73918"/>
                    <a:pt x="8636000" y="165100"/>
                  </a:cubicBezTo>
                  <a:lnTo>
                    <a:pt x="8636000" y="1485900"/>
                  </a:lnTo>
                  <a:cubicBezTo>
                    <a:pt x="8636000" y="1577082"/>
                    <a:pt x="8562082" y="1651000"/>
                    <a:pt x="8470900" y="1651000"/>
                  </a:cubicBezTo>
                  <a:lnTo>
                    <a:pt x="165100" y="1651000"/>
                  </a:lnTo>
                  <a:cubicBezTo>
                    <a:pt x="73918" y="1651000"/>
                    <a:pt x="0" y="1577082"/>
                    <a:pt x="0" y="1485900"/>
                  </a:cubicBezTo>
                  <a:lnTo>
                    <a:pt x="0" y="165100"/>
                  </a:lnTo>
                  <a:cubicBezTo>
                    <a:pt x="0" y="73918"/>
                    <a:pt x="73918" y="0"/>
                    <a:pt x="1651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18000"/>
                  </a:srgbClr>
                </a:gs>
                <a:gs pos="100000">
                  <a:srgbClr val="E8E8E8">
                    <a:alpha val="18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7647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8636000" cy="168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064072" y="7896075"/>
            <a:ext cx="1062903" cy="68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05"/>
              </a:lnSpc>
              <a:spcBef>
                <a:spcPct val="0"/>
              </a:spcBef>
            </a:pPr>
            <a:r>
              <a:rPr lang="en-US" sz="3789" u="none" strike="noStrike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765989" y="7767719"/>
            <a:ext cx="5013695" cy="40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42"/>
              </a:lnSpc>
              <a:spcBef>
                <a:spcPct val="0"/>
              </a:spcBef>
            </a:pPr>
            <a:r>
              <a:rPr lang="en-US" sz="2316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PUBBLICHI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65989" y="8248029"/>
            <a:ext cx="5013695" cy="26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3"/>
              </a:lnSpc>
              <a:spcBef>
                <a:spcPct val="0"/>
              </a:spcBef>
            </a:pPr>
            <a:r>
              <a:rPr lang="en-US" sz="1473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prodotto live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476375" y="781844"/>
            <a:ext cx="95250" cy="95250"/>
            <a:chOff x="0" y="0"/>
            <a:chExt cx="127000" cy="127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C0C0C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27000" cy="17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47750" y="344011"/>
            <a:ext cx="952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1956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7250" y="948849"/>
            <a:ext cx="1333500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AI nasce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(Dartmouth)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010025" y="781844"/>
            <a:ext cx="95250" cy="95250"/>
            <a:chOff x="0" y="0"/>
            <a:chExt cx="127000" cy="127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C0C0C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27000" cy="17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3581400" y="344011"/>
            <a:ext cx="952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2012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90900" y="910749"/>
            <a:ext cx="1333500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Deep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Learning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esplode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6553200" y="781844"/>
            <a:ext cx="95250" cy="95250"/>
            <a:chOff x="0" y="0"/>
            <a:chExt cx="127000" cy="1270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C0C0C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27000" cy="17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6124575" y="344011"/>
            <a:ext cx="952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2017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934075" y="948849"/>
            <a:ext cx="1333500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Transformer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(Google)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9096375" y="781844"/>
            <a:ext cx="95250" cy="95250"/>
            <a:chOff x="0" y="0"/>
            <a:chExt cx="127000" cy="1270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C0C0C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127000" cy="17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8667750" y="344011"/>
            <a:ext cx="952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2020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477250" y="948849"/>
            <a:ext cx="1333500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GPT-3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(OpenAI)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1630025" y="781844"/>
            <a:ext cx="95250" cy="95250"/>
            <a:chOff x="0" y="0"/>
            <a:chExt cx="127000" cy="1270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C0C0C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127000" cy="17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201400" y="344011"/>
            <a:ext cx="952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2022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010900" y="910749"/>
            <a:ext cx="1333500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GitHub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Copilot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lancia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4173200" y="781844"/>
            <a:ext cx="95250" cy="95250"/>
            <a:chOff x="0" y="0"/>
            <a:chExt cx="127000" cy="1270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C0C0C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127000" cy="174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13744575" y="344011"/>
            <a:ext cx="952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554075" y="910749"/>
            <a:ext cx="1333500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Vibe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Coding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(Karpathy)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6697325" y="762794"/>
            <a:ext cx="133350" cy="133350"/>
            <a:chOff x="0" y="0"/>
            <a:chExt cx="177800" cy="1778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77800" cy="177800"/>
            </a:xfrm>
            <a:custGeom>
              <a:avLst/>
              <a:gdLst/>
              <a:ahLst/>
              <a:cxnLst/>
              <a:rect l="l" t="t" r="r" b="b"/>
              <a:pathLst>
                <a:path w="177800" h="177800">
                  <a:moveTo>
                    <a:pt x="88900" y="0"/>
                  </a:moveTo>
                  <a:cubicBezTo>
                    <a:pt x="39802" y="0"/>
                    <a:pt x="0" y="39802"/>
                    <a:pt x="0" y="88900"/>
                  </a:cubicBezTo>
                  <a:cubicBezTo>
                    <a:pt x="0" y="137998"/>
                    <a:pt x="39802" y="177800"/>
                    <a:pt x="88900" y="177800"/>
                  </a:cubicBezTo>
                  <a:cubicBezTo>
                    <a:pt x="137998" y="177800"/>
                    <a:pt x="177800" y="137998"/>
                    <a:pt x="177800" y="88900"/>
                  </a:cubicBezTo>
                  <a:cubicBezTo>
                    <a:pt x="177800" y="39802"/>
                    <a:pt x="137998" y="0"/>
                    <a:pt x="889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177800" cy="225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39"/>
                </a:lnSpc>
              </a:pPr>
              <a:endParaRPr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6287750" y="344011"/>
            <a:ext cx="952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5874809" y="948849"/>
            <a:ext cx="1809750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Conversational</a:t>
            </a:r>
          </a:p>
          <a:p>
            <a:pPr marL="0" lvl="0" indent="0" algn="ctr">
              <a:lnSpc>
                <a:spcPts val="1959"/>
              </a:lnSpc>
              <a:spcBef>
                <a:spcPct val="0"/>
              </a:spcBef>
            </a:pPr>
            <a:r>
              <a:rPr lang="en-US" sz="1399" u="none" strike="noStrike">
                <a:solidFill>
                  <a:srgbClr val="E0E0E0"/>
                </a:solidFill>
                <a:latin typeface="Poppins"/>
                <a:ea typeface="Poppins"/>
                <a:cs typeface="Poppins"/>
                <a:sym typeface="Poppins"/>
              </a:rPr>
              <a:t>AI Tech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6954500" y="9791700"/>
            <a:ext cx="952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1 / 7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524000" y="9708515"/>
            <a:ext cx="15240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Il Vibe Coding non segna la fine del programmatore, ma la nascita dell'Architetto.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01800" y="8419780"/>
            <a:ext cx="28575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Microsoft  25%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01800" y="7901599"/>
            <a:ext cx="28575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Amazon  30%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01800" y="7384709"/>
            <a:ext cx="28575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Google  30%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01800" y="6893240"/>
            <a:ext cx="28575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Meta  50%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43734" y="8549392"/>
            <a:ext cx="507953" cy="25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44%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637217" y="8558914"/>
            <a:ext cx="2234993" cy="304830"/>
            <a:chOff x="0" y="0"/>
            <a:chExt cx="2979699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79699" cy="406400"/>
            </a:xfrm>
            <a:custGeom>
              <a:avLst/>
              <a:gdLst/>
              <a:ahLst/>
              <a:cxnLst/>
              <a:rect l="l" t="t" r="r" b="b"/>
              <a:pathLst>
                <a:path w="2979699" h="406400">
                  <a:moveTo>
                    <a:pt x="36118" y="0"/>
                  </a:moveTo>
                  <a:lnTo>
                    <a:pt x="2943582" y="0"/>
                  </a:lnTo>
                  <a:cubicBezTo>
                    <a:pt x="2953161" y="0"/>
                    <a:pt x="2962347" y="4282"/>
                    <a:pt x="2969121" y="11903"/>
                  </a:cubicBezTo>
                  <a:cubicBezTo>
                    <a:pt x="2975894" y="19525"/>
                    <a:pt x="2979699" y="29862"/>
                    <a:pt x="2979699" y="40640"/>
                  </a:cubicBezTo>
                  <a:lnTo>
                    <a:pt x="2979699" y="365760"/>
                  </a:lnTo>
                  <a:cubicBezTo>
                    <a:pt x="2979699" y="376538"/>
                    <a:pt x="2975894" y="386875"/>
                    <a:pt x="2969121" y="394497"/>
                  </a:cubicBezTo>
                  <a:cubicBezTo>
                    <a:pt x="2962347" y="402118"/>
                    <a:pt x="2953161" y="406400"/>
                    <a:pt x="2943582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70000"/>
                  </a:srgbClr>
                </a:gs>
                <a:gs pos="25000">
                  <a:srgbClr val="E7E4EF">
                    <a:alpha val="70000"/>
                  </a:srgbClr>
                </a:gs>
                <a:gs pos="50000">
                  <a:srgbClr val="858489">
                    <a:alpha val="70000"/>
                  </a:srgbClr>
                </a:gs>
                <a:gs pos="75000">
                  <a:srgbClr val="B9B9B9">
                    <a:alpha val="70000"/>
                  </a:srgbClr>
                </a:gs>
                <a:gs pos="100000">
                  <a:srgbClr val="858489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97969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637217" y="8558914"/>
            <a:ext cx="5079529" cy="304830"/>
            <a:chOff x="0" y="0"/>
            <a:chExt cx="6772044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72044" cy="406400"/>
            </a:xfrm>
            <a:custGeom>
              <a:avLst/>
              <a:gdLst/>
              <a:ahLst/>
              <a:cxnLst/>
              <a:rect l="l" t="t" r="r" b="b"/>
              <a:pathLst>
                <a:path w="6772044" h="406400">
                  <a:moveTo>
                    <a:pt x="36118" y="0"/>
                  </a:moveTo>
                  <a:lnTo>
                    <a:pt x="6735926" y="0"/>
                  </a:lnTo>
                  <a:cubicBezTo>
                    <a:pt x="6745505" y="0"/>
                    <a:pt x="6754692" y="4282"/>
                    <a:pt x="6761466" y="11903"/>
                  </a:cubicBezTo>
                  <a:cubicBezTo>
                    <a:pt x="6768239" y="19525"/>
                    <a:pt x="6772044" y="29862"/>
                    <a:pt x="6772044" y="40640"/>
                  </a:cubicBezTo>
                  <a:lnTo>
                    <a:pt x="6772044" y="365760"/>
                  </a:lnTo>
                  <a:cubicBezTo>
                    <a:pt x="6772044" y="376538"/>
                    <a:pt x="6768239" y="386875"/>
                    <a:pt x="6761466" y="394497"/>
                  </a:cubicBezTo>
                  <a:cubicBezTo>
                    <a:pt x="6754692" y="402118"/>
                    <a:pt x="6745505" y="406400"/>
                    <a:pt x="6735926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15000"/>
                  </a:srgbClr>
                </a:gs>
                <a:gs pos="25000">
                  <a:srgbClr val="E7E4EF">
                    <a:alpha val="15000"/>
                  </a:srgbClr>
                </a:gs>
                <a:gs pos="50000">
                  <a:srgbClr val="858489">
                    <a:alpha val="15000"/>
                  </a:srgbClr>
                </a:gs>
                <a:gs pos="75000">
                  <a:srgbClr val="B9B9B9">
                    <a:alpha val="15000"/>
                  </a:srgbClr>
                </a:gs>
                <a:gs pos="100000">
                  <a:srgbClr val="858489">
                    <a:alpha val="15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77204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8568443"/>
            <a:ext cx="1523859" cy="2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20"/>
              </a:lnSpc>
              <a:spcBef>
                <a:spcPct val="0"/>
              </a:spcBef>
            </a:pPr>
            <a:r>
              <a:rPr lang="en-US" sz="1300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Apprendimento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43734" y="8073096"/>
            <a:ext cx="507953" cy="25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48%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637217" y="8082617"/>
            <a:ext cx="2438174" cy="304830"/>
            <a:chOff x="0" y="0"/>
            <a:chExt cx="3250581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50581" cy="406400"/>
            </a:xfrm>
            <a:custGeom>
              <a:avLst/>
              <a:gdLst/>
              <a:ahLst/>
              <a:cxnLst/>
              <a:rect l="l" t="t" r="r" b="b"/>
              <a:pathLst>
                <a:path w="3250581" h="406400">
                  <a:moveTo>
                    <a:pt x="36118" y="0"/>
                  </a:moveTo>
                  <a:lnTo>
                    <a:pt x="3214463" y="0"/>
                  </a:lnTo>
                  <a:cubicBezTo>
                    <a:pt x="3224042" y="0"/>
                    <a:pt x="3233229" y="4282"/>
                    <a:pt x="3240002" y="11903"/>
                  </a:cubicBezTo>
                  <a:cubicBezTo>
                    <a:pt x="3246776" y="19525"/>
                    <a:pt x="3250581" y="29862"/>
                    <a:pt x="3250581" y="40640"/>
                  </a:cubicBezTo>
                  <a:lnTo>
                    <a:pt x="3250581" y="365760"/>
                  </a:lnTo>
                  <a:cubicBezTo>
                    <a:pt x="3250581" y="376538"/>
                    <a:pt x="3246776" y="386875"/>
                    <a:pt x="3240002" y="394497"/>
                  </a:cubicBezTo>
                  <a:cubicBezTo>
                    <a:pt x="3233229" y="402118"/>
                    <a:pt x="3224042" y="406400"/>
                    <a:pt x="3214463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70000"/>
                  </a:srgbClr>
                </a:gs>
                <a:gs pos="25000">
                  <a:srgbClr val="E7E4EF">
                    <a:alpha val="70000"/>
                  </a:srgbClr>
                </a:gs>
                <a:gs pos="50000">
                  <a:srgbClr val="858489">
                    <a:alpha val="70000"/>
                  </a:srgbClr>
                </a:gs>
                <a:gs pos="75000">
                  <a:srgbClr val="B9B9B9">
                    <a:alpha val="70000"/>
                  </a:srgbClr>
                </a:gs>
                <a:gs pos="100000">
                  <a:srgbClr val="858489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25058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637217" y="8082617"/>
            <a:ext cx="5079529" cy="304830"/>
            <a:chOff x="0" y="0"/>
            <a:chExt cx="6772044" cy="406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72044" cy="406400"/>
            </a:xfrm>
            <a:custGeom>
              <a:avLst/>
              <a:gdLst/>
              <a:ahLst/>
              <a:cxnLst/>
              <a:rect l="l" t="t" r="r" b="b"/>
              <a:pathLst>
                <a:path w="6772044" h="406400">
                  <a:moveTo>
                    <a:pt x="36118" y="0"/>
                  </a:moveTo>
                  <a:lnTo>
                    <a:pt x="6735926" y="0"/>
                  </a:lnTo>
                  <a:cubicBezTo>
                    <a:pt x="6745505" y="0"/>
                    <a:pt x="6754692" y="4282"/>
                    <a:pt x="6761466" y="11903"/>
                  </a:cubicBezTo>
                  <a:cubicBezTo>
                    <a:pt x="6768239" y="19525"/>
                    <a:pt x="6772044" y="29862"/>
                    <a:pt x="6772044" y="40640"/>
                  </a:cubicBezTo>
                  <a:lnTo>
                    <a:pt x="6772044" y="365760"/>
                  </a:lnTo>
                  <a:cubicBezTo>
                    <a:pt x="6772044" y="376538"/>
                    <a:pt x="6768239" y="386875"/>
                    <a:pt x="6761466" y="394497"/>
                  </a:cubicBezTo>
                  <a:cubicBezTo>
                    <a:pt x="6754692" y="402118"/>
                    <a:pt x="6745505" y="406400"/>
                    <a:pt x="6735926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15000"/>
                  </a:srgbClr>
                </a:gs>
                <a:gs pos="25000">
                  <a:srgbClr val="E7E4EF">
                    <a:alpha val="15000"/>
                  </a:srgbClr>
                </a:gs>
                <a:gs pos="50000">
                  <a:srgbClr val="858489">
                    <a:alpha val="15000"/>
                  </a:srgbClr>
                </a:gs>
                <a:gs pos="75000">
                  <a:srgbClr val="B9B9B9">
                    <a:alpha val="15000"/>
                  </a:srgbClr>
                </a:gs>
                <a:gs pos="100000">
                  <a:srgbClr val="858489">
                    <a:alpha val="15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77204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8092147"/>
            <a:ext cx="1523859" cy="2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20"/>
              </a:lnSpc>
              <a:spcBef>
                <a:spcPct val="0"/>
              </a:spcBef>
            </a:pPr>
            <a:r>
              <a:rPr lang="en-US" sz="1300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Code review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43734" y="7596799"/>
            <a:ext cx="507953" cy="25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51%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637217" y="7606321"/>
            <a:ext cx="2590560" cy="304830"/>
            <a:chOff x="0" y="0"/>
            <a:chExt cx="3453742" cy="406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453742" cy="406400"/>
            </a:xfrm>
            <a:custGeom>
              <a:avLst/>
              <a:gdLst/>
              <a:ahLst/>
              <a:cxnLst/>
              <a:rect l="l" t="t" r="r" b="b"/>
              <a:pathLst>
                <a:path w="3453742" h="406400">
                  <a:moveTo>
                    <a:pt x="36118" y="0"/>
                  </a:moveTo>
                  <a:lnTo>
                    <a:pt x="3417625" y="0"/>
                  </a:lnTo>
                  <a:cubicBezTo>
                    <a:pt x="3427204" y="0"/>
                    <a:pt x="3436390" y="4282"/>
                    <a:pt x="3443164" y="11903"/>
                  </a:cubicBezTo>
                  <a:cubicBezTo>
                    <a:pt x="3449937" y="19525"/>
                    <a:pt x="3453742" y="29862"/>
                    <a:pt x="3453742" y="40640"/>
                  </a:cubicBezTo>
                  <a:lnTo>
                    <a:pt x="3453742" y="365760"/>
                  </a:lnTo>
                  <a:cubicBezTo>
                    <a:pt x="3453742" y="376538"/>
                    <a:pt x="3449937" y="386875"/>
                    <a:pt x="3443164" y="394497"/>
                  </a:cubicBezTo>
                  <a:cubicBezTo>
                    <a:pt x="3436390" y="402118"/>
                    <a:pt x="3427204" y="406400"/>
                    <a:pt x="3417625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70000"/>
                  </a:srgbClr>
                </a:gs>
                <a:gs pos="25000">
                  <a:srgbClr val="E7E4EF">
                    <a:alpha val="70000"/>
                  </a:srgbClr>
                </a:gs>
                <a:gs pos="50000">
                  <a:srgbClr val="858489">
                    <a:alpha val="70000"/>
                  </a:srgbClr>
                </a:gs>
                <a:gs pos="75000">
                  <a:srgbClr val="B9B9B9">
                    <a:alpha val="70000"/>
                  </a:srgbClr>
                </a:gs>
                <a:gs pos="100000">
                  <a:srgbClr val="858489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45374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637217" y="7606321"/>
            <a:ext cx="5079529" cy="304830"/>
            <a:chOff x="0" y="0"/>
            <a:chExt cx="6772044" cy="406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772044" cy="406400"/>
            </a:xfrm>
            <a:custGeom>
              <a:avLst/>
              <a:gdLst/>
              <a:ahLst/>
              <a:cxnLst/>
              <a:rect l="l" t="t" r="r" b="b"/>
              <a:pathLst>
                <a:path w="6772044" h="406400">
                  <a:moveTo>
                    <a:pt x="36118" y="0"/>
                  </a:moveTo>
                  <a:lnTo>
                    <a:pt x="6735926" y="0"/>
                  </a:lnTo>
                  <a:cubicBezTo>
                    <a:pt x="6745505" y="0"/>
                    <a:pt x="6754692" y="4282"/>
                    <a:pt x="6761466" y="11903"/>
                  </a:cubicBezTo>
                  <a:cubicBezTo>
                    <a:pt x="6768239" y="19525"/>
                    <a:pt x="6772044" y="29862"/>
                    <a:pt x="6772044" y="40640"/>
                  </a:cubicBezTo>
                  <a:lnTo>
                    <a:pt x="6772044" y="365760"/>
                  </a:lnTo>
                  <a:cubicBezTo>
                    <a:pt x="6772044" y="376538"/>
                    <a:pt x="6768239" y="386875"/>
                    <a:pt x="6761466" y="394497"/>
                  </a:cubicBezTo>
                  <a:cubicBezTo>
                    <a:pt x="6754692" y="402118"/>
                    <a:pt x="6745505" y="406400"/>
                    <a:pt x="6735926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15000"/>
                  </a:srgbClr>
                </a:gs>
                <a:gs pos="25000">
                  <a:srgbClr val="E7E4EF">
                    <a:alpha val="15000"/>
                  </a:srgbClr>
                </a:gs>
                <a:gs pos="50000">
                  <a:srgbClr val="858489">
                    <a:alpha val="15000"/>
                  </a:srgbClr>
                </a:gs>
                <a:gs pos="75000">
                  <a:srgbClr val="B9B9B9">
                    <a:alpha val="15000"/>
                  </a:srgbClr>
                </a:gs>
                <a:gs pos="100000">
                  <a:srgbClr val="858489">
                    <a:alpha val="15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77204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28700" y="7615850"/>
            <a:ext cx="1523859" cy="2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20"/>
              </a:lnSpc>
              <a:spcBef>
                <a:spcPct val="0"/>
              </a:spcBef>
            </a:pPr>
            <a:r>
              <a:rPr lang="en-US" sz="1300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Testing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43734" y="7120503"/>
            <a:ext cx="507953" cy="25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63%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637217" y="7130024"/>
            <a:ext cx="3200103" cy="304830"/>
            <a:chOff x="0" y="0"/>
            <a:chExt cx="4266388" cy="406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266388" cy="406400"/>
            </a:xfrm>
            <a:custGeom>
              <a:avLst/>
              <a:gdLst/>
              <a:ahLst/>
              <a:cxnLst/>
              <a:rect l="l" t="t" r="r" b="b"/>
              <a:pathLst>
                <a:path w="4266388" h="406400">
                  <a:moveTo>
                    <a:pt x="36118" y="0"/>
                  </a:moveTo>
                  <a:lnTo>
                    <a:pt x="4230270" y="0"/>
                  </a:lnTo>
                  <a:cubicBezTo>
                    <a:pt x="4239849" y="0"/>
                    <a:pt x="4249036" y="4282"/>
                    <a:pt x="4255809" y="11903"/>
                  </a:cubicBezTo>
                  <a:cubicBezTo>
                    <a:pt x="4262582" y="19525"/>
                    <a:pt x="4266388" y="29862"/>
                    <a:pt x="4266388" y="40640"/>
                  </a:cubicBezTo>
                  <a:lnTo>
                    <a:pt x="4266388" y="365760"/>
                  </a:lnTo>
                  <a:cubicBezTo>
                    <a:pt x="4266388" y="376538"/>
                    <a:pt x="4262582" y="386875"/>
                    <a:pt x="4255809" y="394497"/>
                  </a:cubicBezTo>
                  <a:cubicBezTo>
                    <a:pt x="4249036" y="402118"/>
                    <a:pt x="4239849" y="406400"/>
                    <a:pt x="4230270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70000"/>
                  </a:srgbClr>
                </a:gs>
                <a:gs pos="25000">
                  <a:srgbClr val="E7E4EF">
                    <a:alpha val="70000"/>
                  </a:srgbClr>
                </a:gs>
                <a:gs pos="50000">
                  <a:srgbClr val="858489">
                    <a:alpha val="70000"/>
                  </a:srgbClr>
                </a:gs>
                <a:gs pos="75000">
                  <a:srgbClr val="B9B9B9">
                    <a:alpha val="70000"/>
                  </a:srgbClr>
                </a:gs>
                <a:gs pos="100000">
                  <a:srgbClr val="858489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4266388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637217" y="7130024"/>
            <a:ext cx="5079529" cy="304830"/>
            <a:chOff x="0" y="0"/>
            <a:chExt cx="6772044" cy="406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772044" cy="406400"/>
            </a:xfrm>
            <a:custGeom>
              <a:avLst/>
              <a:gdLst/>
              <a:ahLst/>
              <a:cxnLst/>
              <a:rect l="l" t="t" r="r" b="b"/>
              <a:pathLst>
                <a:path w="6772044" h="406400">
                  <a:moveTo>
                    <a:pt x="36118" y="0"/>
                  </a:moveTo>
                  <a:lnTo>
                    <a:pt x="6735926" y="0"/>
                  </a:lnTo>
                  <a:cubicBezTo>
                    <a:pt x="6745505" y="0"/>
                    <a:pt x="6754692" y="4282"/>
                    <a:pt x="6761466" y="11903"/>
                  </a:cubicBezTo>
                  <a:cubicBezTo>
                    <a:pt x="6768239" y="19525"/>
                    <a:pt x="6772044" y="29862"/>
                    <a:pt x="6772044" y="40640"/>
                  </a:cubicBezTo>
                  <a:lnTo>
                    <a:pt x="6772044" y="365760"/>
                  </a:lnTo>
                  <a:cubicBezTo>
                    <a:pt x="6772044" y="376538"/>
                    <a:pt x="6768239" y="386875"/>
                    <a:pt x="6761466" y="394497"/>
                  </a:cubicBezTo>
                  <a:cubicBezTo>
                    <a:pt x="6754692" y="402118"/>
                    <a:pt x="6745505" y="406400"/>
                    <a:pt x="6735926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15000"/>
                  </a:srgbClr>
                </a:gs>
                <a:gs pos="25000">
                  <a:srgbClr val="E7E4EF">
                    <a:alpha val="15000"/>
                  </a:srgbClr>
                </a:gs>
                <a:gs pos="50000">
                  <a:srgbClr val="858489">
                    <a:alpha val="15000"/>
                  </a:srgbClr>
                </a:gs>
                <a:gs pos="75000">
                  <a:srgbClr val="B9B9B9">
                    <a:alpha val="15000"/>
                  </a:srgbClr>
                </a:gs>
                <a:gs pos="100000">
                  <a:srgbClr val="858489">
                    <a:alpha val="15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677204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28700" y="7139554"/>
            <a:ext cx="1523859" cy="2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20"/>
              </a:lnSpc>
              <a:spcBef>
                <a:spcPct val="0"/>
              </a:spcBef>
            </a:pPr>
            <a:r>
              <a:rPr lang="en-US" sz="1300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Documentazione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843734" y="6644206"/>
            <a:ext cx="507953" cy="25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74%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637217" y="6653728"/>
            <a:ext cx="3758851" cy="304830"/>
            <a:chOff x="0" y="0"/>
            <a:chExt cx="5011312" cy="406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011312" cy="406400"/>
            </a:xfrm>
            <a:custGeom>
              <a:avLst/>
              <a:gdLst/>
              <a:ahLst/>
              <a:cxnLst/>
              <a:rect l="l" t="t" r="r" b="b"/>
              <a:pathLst>
                <a:path w="5011312" h="406400">
                  <a:moveTo>
                    <a:pt x="36118" y="0"/>
                  </a:moveTo>
                  <a:lnTo>
                    <a:pt x="4975195" y="0"/>
                  </a:lnTo>
                  <a:cubicBezTo>
                    <a:pt x="4984774" y="0"/>
                    <a:pt x="4993960" y="4282"/>
                    <a:pt x="5000734" y="11903"/>
                  </a:cubicBezTo>
                  <a:cubicBezTo>
                    <a:pt x="5007507" y="19525"/>
                    <a:pt x="5011312" y="29862"/>
                    <a:pt x="5011312" y="40640"/>
                  </a:cubicBezTo>
                  <a:lnTo>
                    <a:pt x="5011312" y="365760"/>
                  </a:lnTo>
                  <a:cubicBezTo>
                    <a:pt x="5011312" y="376538"/>
                    <a:pt x="5007507" y="386875"/>
                    <a:pt x="5000734" y="394497"/>
                  </a:cubicBezTo>
                  <a:cubicBezTo>
                    <a:pt x="4993960" y="402118"/>
                    <a:pt x="4984774" y="406400"/>
                    <a:pt x="4975195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70000"/>
                  </a:srgbClr>
                </a:gs>
                <a:gs pos="25000">
                  <a:srgbClr val="E7E4EF">
                    <a:alpha val="70000"/>
                  </a:srgbClr>
                </a:gs>
                <a:gs pos="50000">
                  <a:srgbClr val="858489">
                    <a:alpha val="70000"/>
                  </a:srgbClr>
                </a:gs>
                <a:gs pos="75000">
                  <a:srgbClr val="B9B9B9">
                    <a:alpha val="70000"/>
                  </a:srgbClr>
                </a:gs>
                <a:gs pos="100000">
                  <a:srgbClr val="858489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501131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637217" y="6653728"/>
            <a:ext cx="5079529" cy="304830"/>
            <a:chOff x="0" y="0"/>
            <a:chExt cx="6772044" cy="406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72044" cy="406400"/>
            </a:xfrm>
            <a:custGeom>
              <a:avLst/>
              <a:gdLst/>
              <a:ahLst/>
              <a:cxnLst/>
              <a:rect l="l" t="t" r="r" b="b"/>
              <a:pathLst>
                <a:path w="6772044" h="406400">
                  <a:moveTo>
                    <a:pt x="36118" y="0"/>
                  </a:moveTo>
                  <a:lnTo>
                    <a:pt x="6735926" y="0"/>
                  </a:lnTo>
                  <a:cubicBezTo>
                    <a:pt x="6745505" y="0"/>
                    <a:pt x="6754692" y="4282"/>
                    <a:pt x="6761466" y="11903"/>
                  </a:cubicBezTo>
                  <a:cubicBezTo>
                    <a:pt x="6768239" y="19525"/>
                    <a:pt x="6772044" y="29862"/>
                    <a:pt x="6772044" y="40640"/>
                  </a:cubicBezTo>
                  <a:lnTo>
                    <a:pt x="6772044" y="365760"/>
                  </a:lnTo>
                  <a:cubicBezTo>
                    <a:pt x="6772044" y="376538"/>
                    <a:pt x="6768239" y="386875"/>
                    <a:pt x="6761466" y="394497"/>
                  </a:cubicBezTo>
                  <a:cubicBezTo>
                    <a:pt x="6754692" y="402118"/>
                    <a:pt x="6745505" y="406400"/>
                    <a:pt x="6735926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15000"/>
                  </a:srgbClr>
                </a:gs>
                <a:gs pos="25000">
                  <a:srgbClr val="E7E4EF">
                    <a:alpha val="15000"/>
                  </a:srgbClr>
                </a:gs>
                <a:gs pos="50000">
                  <a:srgbClr val="858489">
                    <a:alpha val="15000"/>
                  </a:srgbClr>
                </a:gs>
                <a:gs pos="75000">
                  <a:srgbClr val="B9B9B9">
                    <a:alpha val="15000"/>
                  </a:srgbClr>
                </a:gs>
                <a:gs pos="100000">
                  <a:srgbClr val="858489">
                    <a:alpha val="15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77204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28700" y="6663257"/>
            <a:ext cx="1523859" cy="2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20"/>
              </a:lnSpc>
              <a:spcBef>
                <a:spcPct val="0"/>
              </a:spcBef>
            </a:pPr>
            <a:r>
              <a:rPr lang="en-US" sz="1300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Debug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43734" y="6167910"/>
            <a:ext cx="507953" cy="25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82%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2637217" y="6177431"/>
            <a:ext cx="4165213" cy="304830"/>
            <a:chOff x="0" y="0"/>
            <a:chExt cx="5553076" cy="4064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553076" cy="406400"/>
            </a:xfrm>
            <a:custGeom>
              <a:avLst/>
              <a:gdLst/>
              <a:ahLst/>
              <a:cxnLst/>
              <a:rect l="l" t="t" r="r" b="b"/>
              <a:pathLst>
                <a:path w="5553076" h="406400">
                  <a:moveTo>
                    <a:pt x="36118" y="0"/>
                  </a:moveTo>
                  <a:lnTo>
                    <a:pt x="5516958" y="0"/>
                  </a:lnTo>
                  <a:cubicBezTo>
                    <a:pt x="5526537" y="0"/>
                    <a:pt x="5535724" y="4282"/>
                    <a:pt x="5542497" y="11903"/>
                  </a:cubicBezTo>
                  <a:cubicBezTo>
                    <a:pt x="5549271" y="19525"/>
                    <a:pt x="5553076" y="29862"/>
                    <a:pt x="5553076" y="40640"/>
                  </a:cubicBezTo>
                  <a:lnTo>
                    <a:pt x="5553076" y="365760"/>
                  </a:lnTo>
                  <a:cubicBezTo>
                    <a:pt x="5553076" y="376538"/>
                    <a:pt x="5549271" y="386875"/>
                    <a:pt x="5542497" y="394497"/>
                  </a:cubicBezTo>
                  <a:cubicBezTo>
                    <a:pt x="5535724" y="402118"/>
                    <a:pt x="5526537" y="406400"/>
                    <a:pt x="5516958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70000"/>
                  </a:srgbClr>
                </a:gs>
                <a:gs pos="25000">
                  <a:srgbClr val="E7E4EF">
                    <a:alpha val="70000"/>
                  </a:srgbClr>
                </a:gs>
                <a:gs pos="50000">
                  <a:srgbClr val="858489">
                    <a:alpha val="70000"/>
                  </a:srgbClr>
                </a:gs>
                <a:gs pos="75000">
                  <a:srgbClr val="B9B9B9">
                    <a:alpha val="70000"/>
                  </a:srgbClr>
                </a:gs>
                <a:gs pos="100000">
                  <a:srgbClr val="858489">
                    <a:alpha val="7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555307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637217" y="6177431"/>
            <a:ext cx="5079529" cy="304830"/>
            <a:chOff x="0" y="0"/>
            <a:chExt cx="6772044" cy="406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772044" cy="406400"/>
            </a:xfrm>
            <a:custGeom>
              <a:avLst/>
              <a:gdLst/>
              <a:ahLst/>
              <a:cxnLst/>
              <a:rect l="l" t="t" r="r" b="b"/>
              <a:pathLst>
                <a:path w="6772044" h="406400">
                  <a:moveTo>
                    <a:pt x="36118" y="0"/>
                  </a:moveTo>
                  <a:lnTo>
                    <a:pt x="6735926" y="0"/>
                  </a:lnTo>
                  <a:cubicBezTo>
                    <a:pt x="6745505" y="0"/>
                    <a:pt x="6754692" y="4282"/>
                    <a:pt x="6761466" y="11903"/>
                  </a:cubicBezTo>
                  <a:cubicBezTo>
                    <a:pt x="6768239" y="19525"/>
                    <a:pt x="6772044" y="29862"/>
                    <a:pt x="6772044" y="40640"/>
                  </a:cubicBezTo>
                  <a:lnTo>
                    <a:pt x="6772044" y="365760"/>
                  </a:lnTo>
                  <a:cubicBezTo>
                    <a:pt x="6772044" y="376538"/>
                    <a:pt x="6768239" y="386875"/>
                    <a:pt x="6761466" y="394497"/>
                  </a:cubicBezTo>
                  <a:cubicBezTo>
                    <a:pt x="6754692" y="402118"/>
                    <a:pt x="6745505" y="406400"/>
                    <a:pt x="6735926" y="406400"/>
                  </a:cubicBezTo>
                  <a:lnTo>
                    <a:pt x="36118" y="406400"/>
                  </a:lnTo>
                  <a:cubicBezTo>
                    <a:pt x="26539" y="406400"/>
                    <a:pt x="17352" y="402118"/>
                    <a:pt x="10579" y="394497"/>
                  </a:cubicBezTo>
                  <a:cubicBezTo>
                    <a:pt x="3805" y="386875"/>
                    <a:pt x="0" y="376538"/>
                    <a:pt x="0" y="365760"/>
                  </a:cubicBezTo>
                  <a:lnTo>
                    <a:pt x="0" y="40640"/>
                  </a:lnTo>
                  <a:cubicBezTo>
                    <a:pt x="0" y="18195"/>
                    <a:pt x="16170" y="0"/>
                    <a:pt x="361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8489">
                    <a:alpha val="15000"/>
                  </a:srgbClr>
                </a:gs>
                <a:gs pos="25000">
                  <a:srgbClr val="E7E4EF">
                    <a:alpha val="15000"/>
                  </a:srgbClr>
                </a:gs>
                <a:gs pos="50000">
                  <a:srgbClr val="858489">
                    <a:alpha val="15000"/>
                  </a:srgbClr>
                </a:gs>
                <a:gs pos="75000">
                  <a:srgbClr val="B9B9B9">
                    <a:alpha val="15000"/>
                  </a:srgbClr>
                </a:gs>
                <a:gs pos="100000">
                  <a:srgbClr val="858489">
                    <a:alpha val="15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6772044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315950" y="3173989"/>
            <a:ext cx="3905250" cy="1524000"/>
            <a:chOff x="0" y="0"/>
            <a:chExt cx="5207000" cy="2032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207000" cy="2032000"/>
            </a:xfrm>
            <a:custGeom>
              <a:avLst/>
              <a:gdLst/>
              <a:ahLst/>
              <a:cxnLst/>
              <a:rect l="l" t="t" r="r" b="b"/>
              <a:pathLst>
                <a:path w="5207000" h="2032000">
                  <a:moveTo>
                    <a:pt x="203200" y="0"/>
                  </a:moveTo>
                  <a:lnTo>
                    <a:pt x="5003800" y="0"/>
                  </a:lnTo>
                  <a:cubicBezTo>
                    <a:pt x="5116024" y="0"/>
                    <a:pt x="5207000" y="90976"/>
                    <a:pt x="5207000" y="203200"/>
                  </a:cubicBezTo>
                  <a:lnTo>
                    <a:pt x="5207000" y="1828800"/>
                  </a:lnTo>
                  <a:cubicBezTo>
                    <a:pt x="5207000" y="1941024"/>
                    <a:pt x="5116024" y="2032000"/>
                    <a:pt x="5003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5207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3411200" y="4320164"/>
            <a:ext cx="371475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"/>
              </a:lnSpc>
              <a:spcBef>
                <a:spcPct val="0"/>
              </a:spcBef>
            </a:pPr>
            <a:r>
              <a:rPr lang="en-US" sz="999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Google DORA 2025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458825" y="3993139"/>
            <a:ext cx="3619500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adozione tra professionisti software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9220200" y="3173989"/>
            <a:ext cx="3905250" cy="1524000"/>
            <a:chOff x="0" y="0"/>
            <a:chExt cx="5207000" cy="20320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5207000" cy="2032000"/>
            </a:xfrm>
            <a:custGeom>
              <a:avLst/>
              <a:gdLst/>
              <a:ahLst/>
              <a:cxnLst/>
              <a:rect l="l" t="t" r="r" b="b"/>
              <a:pathLst>
                <a:path w="5207000" h="2032000">
                  <a:moveTo>
                    <a:pt x="203200" y="0"/>
                  </a:moveTo>
                  <a:lnTo>
                    <a:pt x="5003800" y="0"/>
                  </a:lnTo>
                  <a:cubicBezTo>
                    <a:pt x="5116024" y="0"/>
                    <a:pt x="5207000" y="90976"/>
                    <a:pt x="5207000" y="203200"/>
                  </a:cubicBezTo>
                  <a:lnTo>
                    <a:pt x="5207000" y="1828800"/>
                  </a:lnTo>
                  <a:cubicBezTo>
                    <a:pt x="5207000" y="1941024"/>
                    <a:pt x="5116024" y="2032000"/>
                    <a:pt x="5003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5207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3411200" y="3162559"/>
            <a:ext cx="371475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90%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315450" y="4320164"/>
            <a:ext cx="371475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"/>
              </a:lnSpc>
              <a:spcBef>
                <a:spcPct val="0"/>
              </a:spcBef>
            </a:pPr>
            <a:r>
              <a:rPr lang="en-US" sz="999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Stack Overflow 2025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124450" y="3173989"/>
            <a:ext cx="3905250" cy="1524000"/>
            <a:chOff x="0" y="0"/>
            <a:chExt cx="5207000" cy="20320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207000" cy="2032000"/>
            </a:xfrm>
            <a:custGeom>
              <a:avLst/>
              <a:gdLst/>
              <a:ahLst/>
              <a:cxnLst/>
              <a:rect l="l" t="t" r="r" b="b"/>
              <a:pathLst>
                <a:path w="5207000" h="2032000">
                  <a:moveTo>
                    <a:pt x="203200" y="0"/>
                  </a:moveTo>
                  <a:lnTo>
                    <a:pt x="5003800" y="0"/>
                  </a:lnTo>
                  <a:cubicBezTo>
                    <a:pt x="5116024" y="0"/>
                    <a:pt x="5207000" y="90976"/>
                    <a:pt x="5207000" y="203200"/>
                  </a:cubicBezTo>
                  <a:lnTo>
                    <a:pt x="5207000" y="1828800"/>
                  </a:lnTo>
                  <a:cubicBezTo>
                    <a:pt x="5207000" y="1941024"/>
                    <a:pt x="5116024" y="2032000"/>
                    <a:pt x="5003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5207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9315450" y="3162559"/>
            <a:ext cx="371475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51%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219700" y="4320164"/>
            <a:ext cx="371475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"/>
              </a:lnSpc>
              <a:spcBef>
                <a:spcPct val="0"/>
              </a:spcBef>
            </a:pPr>
            <a:r>
              <a:rPr lang="en-US" sz="999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GitHub / industry benchmark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267325" y="3993139"/>
            <a:ext cx="3619500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codice AI-generato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028700" y="3173989"/>
            <a:ext cx="3905250" cy="1524000"/>
            <a:chOff x="0" y="0"/>
            <a:chExt cx="5207000" cy="20320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5207000" cy="2032000"/>
            </a:xfrm>
            <a:custGeom>
              <a:avLst/>
              <a:gdLst/>
              <a:ahLst/>
              <a:cxnLst/>
              <a:rect l="l" t="t" r="r" b="b"/>
              <a:pathLst>
                <a:path w="5207000" h="2032000">
                  <a:moveTo>
                    <a:pt x="203200" y="0"/>
                  </a:moveTo>
                  <a:lnTo>
                    <a:pt x="5003800" y="0"/>
                  </a:lnTo>
                  <a:cubicBezTo>
                    <a:pt x="5116024" y="0"/>
                    <a:pt x="5207000" y="90976"/>
                    <a:pt x="5207000" y="203200"/>
                  </a:cubicBezTo>
                  <a:lnTo>
                    <a:pt x="5207000" y="1828800"/>
                  </a:lnTo>
                  <a:cubicBezTo>
                    <a:pt x="5207000" y="1941024"/>
                    <a:pt x="5116024" y="2032000"/>
                    <a:pt x="5003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5207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5219700" y="3162559"/>
            <a:ext cx="371475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41%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23950" y="4320164"/>
            <a:ext cx="3714750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"/>
              </a:lnSpc>
              <a:spcBef>
                <a:spcPct val="0"/>
              </a:spcBef>
            </a:pPr>
            <a:r>
              <a:rPr lang="en-US" sz="999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Stack Overflow 2025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71575" y="3993139"/>
            <a:ext cx="3619500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sviluppatori usano o pianificano AI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23950" y="3162559"/>
            <a:ext cx="371475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84%</a:t>
            </a:r>
          </a:p>
        </p:txBody>
      </p:sp>
      <p:sp>
        <p:nvSpPr>
          <p:cNvPr id="76" name="Freeform 76"/>
          <p:cNvSpPr/>
          <p:nvPr/>
        </p:nvSpPr>
        <p:spPr>
          <a:xfrm>
            <a:off x="-19050" y="0"/>
            <a:ext cx="18288000" cy="2469139"/>
          </a:xfrm>
          <a:custGeom>
            <a:avLst/>
            <a:gdLst/>
            <a:ahLst/>
            <a:cxnLst/>
            <a:rect l="l" t="t" r="r" b="b"/>
            <a:pathLst>
              <a:path w="18288000" h="2469139">
                <a:moveTo>
                  <a:pt x="0" y="0"/>
                </a:moveTo>
                <a:lnTo>
                  <a:pt x="18288000" y="0"/>
                </a:lnTo>
                <a:lnTo>
                  <a:pt x="18288000" y="2469139"/>
                </a:lnTo>
                <a:lnTo>
                  <a:pt x="0" y="24691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7000"/>
            </a:blip>
            <a:stretch>
              <a:fillRect t="-268703" b="-13898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7" name="TextBox 77"/>
          <p:cNvSpPr txBox="1"/>
          <p:nvPr/>
        </p:nvSpPr>
        <p:spPr>
          <a:xfrm>
            <a:off x="4552950" y="691515"/>
            <a:ext cx="952500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D A T I   &amp;   A D O Z I O N 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838700" y="2656147"/>
            <a:ext cx="8572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i="1" u="none" strike="noStrike">
                <a:solidFill>
                  <a:srgbClr val="77777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L'adozione corre. La fiducia deve ancora recuperare.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363075" y="3993139"/>
            <a:ext cx="3619500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uso AI quotidiano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28700" y="5643985"/>
            <a:ext cx="4232940" cy="325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Utilizzo AI per categoria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28700" y="6186961"/>
            <a:ext cx="1523859" cy="233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20"/>
              </a:lnSpc>
              <a:spcBef>
                <a:spcPct val="0"/>
              </a:spcBef>
            </a:pPr>
            <a:r>
              <a:rPr lang="en-US" sz="1300" u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Scrittura codice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2496800" y="5778300"/>
            <a:ext cx="4762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18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odice AI-generato · Big Tech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4363700" y="6394013"/>
            <a:ext cx="2857500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Anthropic  80%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829800" y="8957569"/>
            <a:ext cx="74295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i="1" u="none" strike="noStrike">
                <a:solidFill>
                  <a:srgbClr val="44444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25% dei batch Y Combinator 2025 ha codebase al 95%+ AI-generata.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524000" y="9708515"/>
            <a:ext cx="15240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199" u="none" strike="noStrike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Sources: Stack Overflow Developer Survey 2025 · Google DORA 2025 · GitHub / industry reports · YC 2025.</a:t>
            </a: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9400" y="5904037"/>
            <a:ext cx="3233100" cy="3280730"/>
          </a:xfrm>
          <a:prstGeom prst="rect">
            <a:avLst/>
          </a:prstGeom>
        </p:spPr>
      </p:pic>
      <p:sp>
        <p:nvSpPr>
          <p:cNvPr id="87" name="TextBox 87"/>
          <p:cNvSpPr txBox="1"/>
          <p:nvPr/>
        </p:nvSpPr>
        <p:spPr>
          <a:xfrm>
            <a:off x="16954500" y="9791700"/>
            <a:ext cx="952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2 /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68026" y="209550"/>
            <a:ext cx="76200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  <a:spcBef>
                <a:spcPct val="0"/>
              </a:spcBef>
            </a:pPr>
            <a:r>
              <a:rPr lang="en-US" sz="45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S T R U M E N T 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868026" y="1577495"/>
            <a:ext cx="7302475" cy="27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2"/>
              </a:lnSpc>
              <a:spcBef>
                <a:spcPct val="0"/>
              </a:spcBef>
            </a:pPr>
            <a:r>
              <a:rPr lang="en-US" sz="1508" u="none" strike="noStrike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CREA IL PROMPT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868026" y="1933038"/>
            <a:ext cx="3651238" cy="564515"/>
            <a:chOff x="0" y="0"/>
            <a:chExt cx="4517842" cy="698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14076" y="2069424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Claude.ai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793107" y="1933038"/>
            <a:ext cx="3651238" cy="564515"/>
            <a:chOff x="0" y="0"/>
            <a:chExt cx="4517842" cy="698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939156" y="2069424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ChatGPT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868026" y="2600192"/>
            <a:ext cx="3651238" cy="564515"/>
            <a:chOff x="0" y="0"/>
            <a:chExt cx="4517842" cy="69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14076" y="2736578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Gemini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793107" y="2600192"/>
            <a:ext cx="3651238" cy="564515"/>
            <a:chOff x="0" y="0"/>
            <a:chExt cx="4517842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939156" y="2736578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Grok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2868026" y="3267346"/>
            <a:ext cx="3651238" cy="564515"/>
            <a:chOff x="0" y="0"/>
            <a:chExt cx="4517842" cy="698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014076" y="3403732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Perplexity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793107" y="3267346"/>
            <a:ext cx="3651238" cy="564515"/>
            <a:chOff x="0" y="0"/>
            <a:chExt cx="4517842" cy="698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939156" y="3403732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Microsoft Copilot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2868026" y="3934500"/>
            <a:ext cx="3651238" cy="564515"/>
            <a:chOff x="0" y="0"/>
            <a:chExt cx="4517842" cy="698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014076" y="4070886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PromptPerfect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6793107" y="3934500"/>
            <a:ext cx="3651238" cy="564515"/>
            <a:chOff x="0" y="0"/>
            <a:chExt cx="4517842" cy="6985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939156" y="4070886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FlowGPT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2868026" y="4601654"/>
            <a:ext cx="3651238" cy="564515"/>
            <a:chOff x="0" y="0"/>
            <a:chExt cx="4517842" cy="6985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3014076" y="4738041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AIPRM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793107" y="4601654"/>
            <a:ext cx="3651238" cy="564515"/>
            <a:chOff x="0" y="0"/>
            <a:chExt cx="4517842" cy="6985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6939156" y="4738041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Anthropic Workbench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868026" y="5375142"/>
            <a:ext cx="7302475" cy="27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12"/>
              </a:lnSpc>
              <a:spcBef>
                <a:spcPct val="0"/>
              </a:spcBef>
            </a:pPr>
            <a:r>
              <a:rPr lang="en-US" sz="1508" u="none" strike="noStrike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COSTRUISCI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2868026" y="5730684"/>
            <a:ext cx="3651238" cy="564515"/>
            <a:chOff x="0" y="0"/>
            <a:chExt cx="4517842" cy="6985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3014076" y="5867071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Lovable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6793107" y="5730684"/>
            <a:ext cx="3651238" cy="564515"/>
            <a:chOff x="0" y="0"/>
            <a:chExt cx="4517842" cy="6985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939156" y="5867071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v0 by Vercel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2868026" y="6397838"/>
            <a:ext cx="3651238" cy="564515"/>
            <a:chOff x="0" y="0"/>
            <a:chExt cx="4517842" cy="6985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3014076" y="6534225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Bolt.new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6793107" y="6397838"/>
            <a:ext cx="3651238" cy="564515"/>
            <a:chOff x="0" y="0"/>
            <a:chExt cx="4517842" cy="6985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6939156" y="6534225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Replit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2868026" y="7064992"/>
            <a:ext cx="3651238" cy="564515"/>
            <a:chOff x="0" y="0"/>
            <a:chExt cx="4517842" cy="6985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3014076" y="7201379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Cursor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6793107" y="7064992"/>
            <a:ext cx="3651238" cy="564515"/>
            <a:chOff x="0" y="0"/>
            <a:chExt cx="4517842" cy="6985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6939156" y="7201379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GitHub Copilot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2868026" y="7732146"/>
            <a:ext cx="3651238" cy="564515"/>
            <a:chOff x="0" y="0"/>
            <a:chExt cx="4517842" cy="6985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3014076" y="7868533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Google IDX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6793107" y="7732146"/>
            <a:ext cx="3651238" cy="564515"/>
            <a:chOff x="0" y="0"/>
            <a:chExt cx="4517842" cy="6985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6939156" y="7868533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Windsurf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2868026" y="8399300"/>
            <a:ext cx="3651238" cy="564515"/>
            <a:chOff x="0" y="0"/>
            <a:chExt cx="4517842" cy="6985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3014076" y="8535687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Codeium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6793107" y="8399300"/>
            <a:ext cx="3651238" cy="564515"/>
            <a:chOff x="0" y="0"/>
            <a:chExt cx="4517842" cy="6985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4517842" cy="698500"/>
            </a:xfrm>
            <a:custGeom>
              <a:avLst/>
              <a:gdLst/>
              <a:ahLst/>
              <a:cxnLst/>
              <a:rect l="l" t="t" r="r" b="b"/>
              <a:pathLst>
                <a:path w="4517842" h="698500">
                  <a:moveTo>
                    <a:pt x="124241" y="0"/>
                  </a:moveTo>
                  <a:lnTo>
                    <a:pt x="4393601" y="0"/>
                  </a:lnTo>
                  <a:cubicBezTo>
                    <a:pt x="4462218" y="0"/>
                    <a:pt x="4517842" y="31273"/>
                    <a:pt x="4517842" y="69850"/>
                  </a:cubicBezTo>
                  <a:lnTo>
                    <a:pt x="4517842" y="628650"/>
                  </a:lnTo>
                  <a:cubicBezTo>
                    <a:pt x="4517842" y="667227"/>
                    <a:pt x="4462218" y="698500"/>
                    <a:pt x="4393601" y="698500"/>
                  </a:cubicBezTo>
                  <a:lnTo>
                    <a:pt x="124241" y="698500"/>
                  </a:lnTo>
                  <a:cubicBezTo>
                    <a:pt x="55624" y="698500"/>
                    <a:pt x="0" y="667227"/>
                    <a:pt x="0" y="628650"/>
                  </a:cubicBezTo>
                  <a:lnTo>
                    <a:pt x="0" y="69850"/>
                  </a:lnTo>
                  <a:cubicBezTo>
                    <a:pt x="0" y="31273"/>
                    <a:pt x="55624" y="0"/>
                    <a:pt x="1242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38100"/>
              <a:ext cx="451784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6939156" y="8535687"/>
            <a:ext cx="3359139" cy="2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10"/>
              </a:lnSpc>
              <a:spcBef>
                <a:spcPct val="0"/>
              </a:spcBef>
            </a:pPr>
            <a:r>
              <a:rPr lang="en-US" sz="1293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Firebase Genkit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454868" y="1577495"/>
            <a:ext cx="3601153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IL PROMPT PERFETTO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11454868" y="1962150"/>
            <a:ext cx="5492241" cy="1047750"/>
            <a:chOff x="0" y="0"/>
            <a:chExt cx="7322989" cy="13970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322989" cy="1397000"/>
            </a:xfrm>
            <a:custGeom>
              <a:avLst/>
              <a:gdLst/>
              <a:ahLst/>
              <a:cxnLst/>
              <a:rect l="l" t="t" r="r" b="b"/>
              <a:pathLst>
                <a:path w="7322989" h="1397000">
                  <a:moveTo>
                    <a:pt x="107404" y="0"/>
                  </a:moveTo>
                  <a:lnTo>
                    <a:pt x="7215584" y="0"/>
                  </a:lnTo>
                  <a:cubicBezTo>
                    <a:pt x="7274902" y="0"/>
                    <a:pt x="7322989" y="62546"/>
                    <a:pt x="7322989" y="139700"/>
                  </a:cubicBezTo>
                  <a:lnTo>
                    <a:pt x="7322989" y="1257300"/>
                  </a:lnTo>
                  <a:cubicBezTo>
                    <a:pt x="7322989" y="1334454"/>
                    <a:pt x="7274902" y="1397000"/>
                    <a:pt x="7215584" y="1397000"/>
                  </a:cubicBezTo>
                  <a:lnTo>
                    <a:pt x="107404" y="1397000"/>
                  </a:lnTo>
                  <a:cubicBezTo>
                    <a:pt x="4808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48086" y="0"/>
                    <a:pt x="1074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7322989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1765210" y="2228053"/>
            <a:ext cx="36011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🎯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2570266" y="2219798"/>
            <a:ext cx="366149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OBIETTIVO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2570266" y="2610323"/>
            <a:ext cx="3661494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Cosa deve fare?</a:t>
            </a:r>
          </a:p>
        </p:txBody>
      </p:sp>
      <p:grpSp>
        <p:nvGrpSpPr>
          <p:cNvPr id="92" name="Group 92"/>
          <p:cNvGrpSpPr/>
          <p:nvPr/>
        </p:nvGrpSpPr>
        <p:grpSpPr>
          <a:xfrm>
            <a:off x="11454868" y="3162300"/>
            <a:ext cx="5492241" cy="1047750"/>
            <a:chOff x="0" y="0"/>
            <a:chExt cx="7322989" cy="13970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7322989" cy="1397000"/>
            </a:xfrm>
            <a:custGeom>
              <a:avLst/>
              <a:gdLst/>
              <a:ahLst/>
              <a:cxnLst/>
              <a:rect l="l" t="t" r="r" b="b"/>
              <a:pathLst>
                <a:path w="7322989" h="1397000">
                  <a:moveTo>
                    <a:pt x="107404" y="0"/>
                  </a:moveTo>
                  <a:lnTo>
                    <a:pt x="7215584" y="0"/>
                  </a:lnTo>
                  <a:cubicBezTo>
                    <a:pt x="7274902" y="0"/>
                    <a:pt x="7322989" y="62546"/>
                    <a:pt x="7322989" y="139700"/>
                  </a:cubicBezTo>
                  <a:lnTo>
                    <a:pt x="7322989" y="1257300"/>
                  </a:lnTo>
                  <a:cubicBezTo>
                    <a:pt x="7322989" y="1334454"/>
                    <a:pt x="7274902" y="1397000"/>
                    <a:pt x="7215584" y="1397000"/>
                  </a:cubicBezTo>
                  <a:lnTo>
                    <a:pt x="107404" y="1397000"/>
                  </a:lnTo>
                  <a:cubicBezTo>
                    <a:pt x="4808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48086" y="0"/>
                    <a:pt x="1074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7322989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5" name="TextBox 95"/>
          <p:cNvSpPr txBox="1"/>
          <p:nvPr/>
        </p:nvSpPr>
        <p:spPr>
          <a:xfrm>
            <a:off x="11765210" y="3418678"/>
            <a:ext cx="36011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👥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2570266" y="3410423"/>
            <a:ext cx="366149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PUBBLICO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2570266" y="3800948"/>
            <a:ext cx="3661494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Per chi è?</a:t>
            </a:r>
          </a:p>
        </p:txBody>
      </p:sp>
      <p:grpSp>
        <p:nvGrpSpPr>
          <p:cNvPr id="98" name="Group 98"/>
          <p:cNvGrpSpPr/>
          <p:nvPr/>
        </p:nvGrpSpPr>
        <p:grpSpPr>
          <a:xfrm>
            <a:off x="11454868" y="4381500"/>
            <a:ext cx="5492241" cy="1047750"/>
            <a:chOff x="0" y="0"/>
            <a:chExt cx="7322989" cy="139700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7322989" cy="1397000"/>
            </a:xfrm>
            <a:custGeom>
              <a:avLst/>
              <a:gdLst/>
              <a:ahLst/>
              <a:cxnLst/>
              <a:rect l="l" t="t" r="r" b="b"/>
              <a:pathLst>
                <a:path w="7322989" h="1397000">
                  <a:moveTo>
                    <a:pt x="107404" y="0"/>
                  </a:moveTo>
                  <a:lnTo>
                    <a:pt x="7215584" y="0"/>
                  </a:lnTo>
                  <a:cubicBezTo>
                    <a:pt x="7274902" y="0"/>
                    <a:pt x="7322989" y="62546"/>
                    <a:pt x="7322989" y="139700"/>
                  </a:cubicBezTo>
                  <a:lnTo>
                    <a:pt x="7322989" y="1257300"/>
                  </a:lnTo>
                  <a:cubicBezTo>
                    <a:pt x="7322989" y="1334454"/>
                    <a:pt x="7274902" y="1397000"/>
                    <a:pt x="7215584" y="1397000"/>
                  </a:cubicBezTo>
                  <a:lnTo>
                    <a:pt x="107404" y="1397000"/>
                  </a:lnTo>
                  <a:cubicBezTo>
                    <a:pt x="4808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48086" y="0"/>
                    <a:pt x="1074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7322989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1" name="TextBox 101"/>
          <p:cNvSpPr txBox="1"/>
          <p:nvPr/>
        </p:nvSpPr>
        <p:spPr>
          <a:xfrm>
            <a:off x="11765210" y="4609303"/>
            <a:ext cx="36011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🎨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2570266" y="4601048"/>
            <a:ext cx="366149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DESIGN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2570266" y="4991573"/>
            <a:ext cx="3661494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Colori, stile, font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11454868" y="5524500"/>
            <a:ext cx="5492241" cy="1047750"/>
            <a:chOff x="0" y="0"/>
            <a:chExt cx="7322989" cy="1397000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7322989" cy="1397000"/>
            </a:xfrm>
            <a:custGeom>
              <a:avLst/>
              <a:gdLst/>
              <a:ahLst/>
              <a:cxnLst/>
              <a:rect l="l" t="t" r="r" b="b"/>
              <a:pathLst>
                <a:path w="7322989" h="1397000">
                  <a:moveTo>
                    <a:pt x="107404" y="0"/>
                  </a:moveTo>
                  <a:lnTo>
                    <a:pt x="7215584" y="0"/>
                  </a:lnTo>
                  <a:cubicBezTo>
                    <a:pt x="7274902" y="0"/>
                    <a:pt x="7322989" y="62546"/>
                    <a:pt x="7322989" y="139700"/>
                  </a:cubicBezTo>
                  <a:lnTo>
                    <a:pt x="7322989" y="1257300"/>
                  </a:lnTo>
                  <a:cubicBezTo>
                    <a:pt x="7322989" y="1334454"/>
                    <a:pt x="7274902" y="1397000"/>
                    <a:pt x="7215584" y="1397000"/>
                  </a:cubicBezTo>
                  <a:lnTo>
                    <a:pt x="107404" y="1397000"/>
                  </a:lnTo>
                  <a:cubicBezTo>
                    <a:pt x="4808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48086" y="0"/>
                    <a:pt x="1074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0" y="-38100"/>
              <a:ext cx="7322989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7" name="TextBox 107"/>
          <p:cNvSpPr txBox="1"/>
          <p:nvPr/>
        </p:nvSpPr>
        <p:spPr>
          <a:xfrm>
            <a:off x="11765210" y="5799928"/>
            <a:ext cx="36011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⚙️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570266" y="5791673"/>
            <a:ext cx="366149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FUNZIONALITÀ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2570266" y="6182198"/>
            <a:ext cx="3661494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Pagine, features, tools</a:t>
            </a:r>
          </a:p>
        </p:txBody>
      </p:sp>
      <p:grpSp>
        <p:nvGrpSpPr>
          <p:cNvPr id="110" name="Group 110"/>
          <p:cNvGrpSpPr/>
          <p:nvPr/>
        </p:nvGrpSpPr>
        <p:grpSpPr>
          <a:xfrm>
            <a:off x="11454868" y="6743700"/>
            <a:ext cx="5492241" cy="1047750"/>
            <a:chOff x="0" y="0"/>
            <a:chExt cx="7322989" cy="13970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7322989" cy="1397000"/>
            </a:xfrm>
            <a:custGeom>
              <a:avLst/>
              <a:gdLst/>
              <a:ahLst/>
              <a:cxnLst/>
              <a:rect l="l" t="t" r="r" b="b"/>
              <a:pathLst>
                <a:path w="7322989" h="1397000">
                  <a:moveTo>
                    <a:pt x="107404" y="0"/>
                  </a:moveTo>
                  <a:lnTo>
                    <a:pt x="7215584" y="0"/>
                  </a:lnTo>
                  <a:cubicBezTo>
                    <a:pt x="7274902" y="0"/>
                    <a:pt x="7322989" y="62546"/>
                    <a:pt x="7322989" y="139700"/>
                  </a:cubicBezTo>
                  <a:lnTo>
                    <a:pt x="7322989" y="1257300"/>
                  </a:lnTo>
                  <a:cubicBezTo>
                    <a:pt x="7322989" y="1334454"/>
                    <a:pt x="7274902" y="1397000"/>
                    <a:pt x="7215584" y="1397000"/>
                  </a:cubicBezTo>
                  <a:lnTo>
                    <a:pt x="107404" y="1397000"/>
                  </a:lnTo>
                  <a:cubicBezTo>
                    <a:pt x="4808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48086" y="0"/>
                    <a:pt x="1074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7322989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3" name="TextBox 113"/>
          <p:cNvSpPr txBox="1"/>
          <p:nvPr/>
        </p:nvSpPr>
        <p:spPr>
          <a:xfrm>
            <a:off x="11765210" y="6990553"/>
            <a:ext cx="36011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🌍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2570266" y="6982298"/>
            <a:ext cx="366149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LINGUA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2570266" y="7372823"/>
            <a:ext cx="3661494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EN/IT, traduzioni</a:t>
            </a:r>
          </a:p>
        </p:txBody>
      </p:sp>
      <p:grpSp>
        <p:nvGrpSpPr>
          <p:cNvPr id="116" name="Group 116"/>
          <p:cNvGrpSpPr/>
          <p:nvPr/>
        </p:nvGrpSpPr>
        <p:grpSpPr>
          <a:xfrm>
            <a:off x="11454868" y="7962900"/>
            <a:ext cx="5492241" cy="1047750"/>
            <a:chOff x="0" y="0"/>
            <a:chExt cx="7322989" cy="1397000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7322989" cy="1397000"/>
            </a:xfrm>
            <a:custGeom>
              <a:avLst/>
              <a:gdLst/>
              <a:ahLst/>
              <a:cxnLst/>
              <a:rect l="l" t="t" r="r" b="b"/>
              <a:pathLst>
                <a:path w="7322989" h="1397000">
                  <a:moveTo>
                    <a:pt x="107404" y="0"/>
                  </a:moveTo>
                  <a:lnTo>
                    <a:pt x="7215584" y="0"/>
                  </a:lnTo>
                  <a:cubicBezTo>
                    <a:pt x="7274902" y="0"/>
                    <a:pt x="7322989" y="62546"/>
                    <a:pt x="7322989" y="139700"/>
                  </a:cubicBezTo>
                  <a:lnTo>
                    <a:pt x="7322989" y="1257300"/>
                  </a:lnTo>
                  <a:cubicBezTo>
                    <a:pt x="7322989" y="1334454"/>
                    <a:pt x="7274902" y="1397000"/>
                    <a:pt x="7215584" y="1397000"/>
                  </a:cubicBezTo>
                  <a:lnTo>
                    <a:pt x="107404" y="1397000"/>
                  </a:lnTo>
                  <a:cubicBezTo>
                    <a:pt x="48086" y="1397000"/>
                    <a:pt x="0" y="1334454"/>
                    <a:pt x="0" y="1257300"/>
                  </a:cubicBezTo>
                  <a:lnTo>
                    <a:pt x="0" y="139700"/>
                  </a:lnTo>
                  <a:cubicBezTo>
                    <a:pt x="0" y="62546"/>
                    <a:pt x="48086" y="0"/>
                    <a:pt x="10740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7322989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9" name="TextBox 119"/>
          <p:cNvSpPr txBox="1"/>
          <p:nvPr/>
        </p:nvSpPr>
        <p:spPr>
          <a:xfrm>
            <a:off x="11765210" y="8181178"/>
            <a:ext cx="360115" cy="50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🔧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2570266" y="8172923"/>
            <a:ext cx="3661494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VINCOLI TECNICI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2570266" y="8563448"/>
            <a:ext cx="3661494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19"/>
              </a:lnSpc>
              <a:spcBef>
                <a:spcPct val="0"/>
              </a:spcBef>
            </a:pPr>
            <a:r>
              <a:rPr lang="en-US" sz="1299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Framework, responsive, accessibilità</a:t>
            </a:r>
          </a:p>
        </p:txBody>
      </p:sp>
      <p:sp>
        <p:nvSpPr>
          <p:cNvPr id="122" name="Freeform 122"/>
          <p:cNvSpPr/>
          <p:nvPr/>
        </p:nvSpPr>
        <p:spPr>
          <a:xfrm>
            <a:off x="-107601" y="-69060"/>
            <a:ext cx="2272602" cy="10356060"/>
          </a:xfrm>
          <a:custGeom>
            <a:avLst/>
            <a:gdLst/>
            <a:ahLst/>
            <a:cxnLst/>
            <a:rect l="l" t="t" r="r" b="b"/>
            <a:pathLst>
              <a:path w="2272602" h="10356060">
                <a:moveTo>
                  <a:pt x="0" y="0"/>
                </a:moveTo>
                <a:lnTo>
                  <a:pt x="2272602" y="0"/>
                </a:lnTo>
                <a:lnTo>
                  <a:pt x="2272602" y="10356060"/>
                </a:lnTo>
                <a:lnTo>
                  <a:pt x="0" y="103560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</a:blip>
            <a:stretch>
              <a:fillRect l="-3303" t="-1301" r="-57014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3" name="TextBox 123"/>
          <p:cNvSpPr txBox="1"/>
          <p:nvPr/>
        </p:nvSpPr>
        <p:spPr>
          <a:xfrm>
            <a:off x="16954500" y="9791700"/>
            <a:ext cx="952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3 / 7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4381500" y="9600721"/>
            <a:ext cx="9525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 i="1" u="none" strike="noStrike">
                <a:solidFill>
                  <a:srgbClr val="444444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La differenza tra demo interessante e prodotto sicuro è la revisione umana.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541724"/>
            <a:ext cx="18576561" cy="1754130"/>
          </a:xfrm>
          <a:custGeom>
            <a:avLst/>
            <a:gdLst/>
            <a:ahLst/>
            <a:cxnLst/>
            <a:rect l="l" t="t" r="r" b="b"/>
            <a:pathLst>
              <a:path w="18576561" h="1754130">
                <a:moveTo>
                  <a:pt x="0" y="0"/>
                </a:moveTo>
                <a:lnTo>
                  <a:pt x="18576561" y="0"/>
                </a:lnTo>
                <a:lnTo>
                  <a:pt x="18576561" y="1754131"/>
                </a:lnTo>
                <a:lnTo>
                  <a:pt x="0" y="17541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t="-593939" b="-31969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3512160" y="9131451"/>
            <a:ext cx="11263680" cy="574678"/>
            <a:chOff x="0" y="0"/>
            <a:chExt cx="15018239" cy="766237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597420" cy="766237"/>
              <a:chOff x="0" y="0"/>
              <a:chExt cx="3810000" cy="635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810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635000">
                    <a:moveTo>
                      <a:pt x="63500" y="0"/>
                    </a:moveTo>
                    <a:lnTo>
                      <a:pt x="3746500" y="0"/>
                    </a:lnTo>
                    <a:cubicBezTo>
                      <a:pt x="3781570" y="0"/>
                      <a:pt x="3810000" y="28430"/>
                      <a:pt x="3810000" y="63500"/>
                    </a:cubicBezTo>
                    <a:lnTo>
                      <a:pt x="3810000" y="571500"/>
                    </a:lnTo>
                    <a:cubicBezTo>
                      <a:pt x="3810000" y="606570"/>
                      <a:pt x="3781570" y="635000"/>
                      <a:pt x="3746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0" y="0"/>
                    </a:lnTo>
                    <a:cubicBezTo>
                      <a:pt x="0" y="0"/>
                      <a:pt x="63500" y="0"/>
                      <a:pt x="63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58489">
                      <a:alpha val="19000"/>
                    </a:srgbClr>
                  </a:gs>
                  <a:gs pos="25000">
                    <a:srgbClr val="E7E4EF">
                      <a:alpha val="19000"/>
                    </a:srgbClr>
                  </a:gs>
                  <a:gs pos="50000">
                    <a:srgbClr val="858489">
                      <a:alpha val="19000"/>
                    </a:srgbClr>
                  </a:gs>
                  <a:gs pos="75000">
                    <a:srgbClr val="B9B9B9">
                      <a:alpha val="19000"/>
                    </a:srgbClr>
                  </a:gs>
                  <a:gs pos="100000">
                    <a:srgbClr val="858489">
                      <a:alpha val="19000"/>
                    </a:srgbClr>
                  </a:gs>
                </a:gsLst>
                <a:lin ang="5400000"/>
              </a:gradFill>
              <a:ln w="9525" cap="rnd">
                <a:solidFill>
                  <a:srgbClr val="666666">
                    <a:alpha val="1882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810000" cy="67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5210410" y="0"/>
              <a:ext cx="4597420" cy="766237"/>
              <a:chOff x="0" y="0"/>
              <a:chExt cx="3810000" cy="635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810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635000">
                    <a:moveTo>
                      <a:pt x="63500" y="0"/>
                    </a:moveTo>
                    <a:lnTo>
                      <a:pt x="3746500" y="0"/>
                    </a:lnTo>
                    <a:cubicBezTo>
                      <a:pt x="3781570" y="0"/>
                      <a:pt x="3810000" y="28430"/>
                      <a:pt x="3810000" y="63500"/>
                    </a:cubicBezTo>
                    <a:lnTo>
                      <a:pt x="3810000" y="571500"/>
                    </a:lnTo>
                    <a:cubicBezTo>
                      <a:pt x="3810000" y="606570"/>
                      <a:pt x="3781570" y="635000"/>
                      <a:pt x="3746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0" y="0"/>
                    </a:lnTo>
                    <a:cubicBezTo>
                      <a:pt x="0" y="0"/>
                      <a:pt x="63500" y="0"/>
                      <a:pt x="63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58489">
                      <a:alpha val="23000"/>
                    </a:srgbClr>
                  </a:gs>
                  <a:gs pos="25000">
                    <a:srgbClr val="E7E4EF">
                      <a:alpha val="23000"/>
                    </a:srgbClr>
                  </a:gs>
                  <a:gs pos="50000">
                    <a:srgbClr val="858489">
                      <a:alpha val="23000"/>
                    </a:srgbClr>
                  </a:gs>
                  <a:gs pos="75000">
                    <a:srgbClr val="B9B9B9">
                      <a:alpha val="23000"/>
                    </a:srgbClr>
                  </a:gs>
                  <a:gs pos="100000">
                    <a:srgbClr val="858489">
                      <a:alpha val="23000"/>
                    </a:srgbClr>
                  </a:gs>
                </a:gsLst>
                <a:lin ang="5400000"/>
              </a:gradFill>
              <a:ln w="9525" cap="rnd">
                <a:solidFill>
                  <a:srgbClr val="666666">
                    <a:alpha val="22745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810000" cy="67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0420819" y="0"/>
              <a:ext cx="4597420" cy="766237"/>
              <a:chOff x="0" y="0"/>
              <a:chExt cx="3810000" cy="635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810000" cy="635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0" h="635000">
                    <a:moveTo>
                      <a:pt x="63500" y="0"/>
                    </a:moveTo>
                    <a:lnTo>
                      <a:pt x="3746500" y="0"/>
                    </a:lnTo>
                    <a:cubicBezTo>
                      <a:pt x="3781570" y="0"/>
                      <a:pt x="3810000" y="28430"/>
                      <a:pt x="3810000" y="63500"/>
                    </a:cubicBezTo>
                    <a:lnTo>
                      <a:pt x="3810000" y="571500"/>
                    </a:lnTo>
                    <a:cubicBezTo>
                      <a:pt x="3810000" y="606570"/>
                      <a:pt x="3781570" y="635000"/>
                      <a:pt x="3746500" y="635000"/>
                    </a:cubicBezTo>
                    <a:lnTo>
                      <a:pt x="63500" y="635000"/>
                    </a:lnTo>
                    <a:cubicBezTo>
                      <a:pt x="28430" y="635000"/>
                      <a:pt x="0" y="606570"/>
                      <a:pt x="0" y="571500"/>
                    </a:cubicBez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0" y="0"/>
                    </a:lnTo>
                    <a:cubicBezTo>
                      <a:pt x="0" y="0"/>
                      <a:pt x="63500" y="0"/>
                      <a:pt x="635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58489">
                      <a:alpha val="30000"/>
                    </a:srgbClr>
                  </a:gs>
                  <a:gs pos="25000">
                    <a:srgbClr val="E7E4EF">
                      <a:alpha val="30000"/>
                    </a:srgbClr>
                  </a:gs>
                  <a:gs pos="50000">
                    <a:srgbClr val="858489">
                      <a:alpha val="30000"/>
                    </a:srgbClr>
                  </a:gs>
                  <a:gs pos="75000">
                    <a:srgbClr val="B9B9B9">
                      <a:alpha val="30000"/>
                    </a:srgbClr>
                  </a:gs>
                  <a:gs pos="100000">
                    <a:srgbClr val="858489">
                      <a:alpha val="30000"/>
                    </a:srgbClr>
                  </a:gs>
                </a:gsLst>
                <a:lin ang="5400000"/>
              </a:gradFill>
              <a:ln w="9525" cap="rnd">
                <a:solidFill>
                  <a:srgbClr val="666666">
                    <a:alpha val="29804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3810000" cy="67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53247" y="142072"/>
              <a:ext cx="4290926" cy="398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65"/>
                </a:lnSpc>
                <a:spcBef>
                  <a:spcPct val="0"/>
                </a:spcBef>
              </a:pPr>
              <a:r>
                <a:rPr lang="en-US" sz="1689" u="none" strike="noStrike">
                  <a:solidFill>
                    <a:srgbClr val="CCCCCC"/>
                  </a:solidFill>
                  <a:latin typeface="Poppins"/>
                  <a:ea typeface="Poppins"/>
                  <a:cs typeface="Poppins"/>
                  <a:sym typeface="Poppins"/>
                </a:rPr>
                <a:t>Un prompt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3657" y="142072"/>
              <a:ext cx="4290926" cy="398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65"/>
                </a:lnSpc>
                <a:spcBef>
                  <a:spcPct val="0"/>
                </a:spcBef>
              </a:pPr>
              <a:r>
                <a:rPr lang="en-US" sz="1689" u="none" strike="noStrike">
                  <a:solidFill>
                    <a:srgbClr val="CCCCCC"/>
                  </a:solidFill>
                  <a:latin typeface="Poppins"/>
                  <a:ea typeface="Poppins"/>
                  <a:cs typeface="Poppins"/>
                  <a:sym typeface="Poppins"/>
                </a:rPr>
                <a:t>Una piattaforma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74067" y="142072"/>
              <a:ext cx="4290926" cy="3983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365"/>
                </a:lnSpc>
                <a:spcBef>
                  <a:spcPct val="0"/>
                </a:spcBef>
              </a:pPr>
              <a:r>
                <a:rPr lang="en-US" sz="1689" u="none" strike="noStrike">
                  <a:solidFill>
                    <a:srgbClr val="CCCCCC"/>
                  </a:solidFill>
                  <a:latin typeface="Poppins"/>
                  <a:ea typeface="Poppins"/>
                  <a:cs typeface="Poppins"/>
                  <a:sym typeface="Poppins"/>
                </a:rPr>
                <a:t>Per ogni generazione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476500" y="895350"/>
            <a:ext cx="13335000" cy="89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4999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G O O D   V I B R A T I O N S   ·   L I V 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29000" y="1894080"/>
            <a:ext cx="11430000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i="1" u="none" strike="noStrike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 Vi </a:t>
            </a:r>
            <a:r>
              <a:rPr lang="en-US" sz="1599" i="1" u="none" strike="noStrike" dirty="0" err="1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presento</a:t>
            </a:r>
            <a:r>
              <a:rPr lang="en-US" sz="1599" i="1" u="none" strike="noStrike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Jarvis, il </a:t>
            </a:r>
            <a:r>
              <a:rPr lang="en-US" sz="1599" i="1" u="none" strike="noStrike" dirty="0" err="1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mio</a:t>
            </a:r>
            <a:r>
              <a:rPr lang="en-US" sz="1599" i="1" u="none" strike="noStrike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1599" i="1" u="none" strike="noStrike" dirty="0" err="1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assistente</a:t>
            </a:r>
            <a:r>
              <a:rPr lang="en-US" sz="1599" i="1" u="none" strike="noStrike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AI. </a:t>
            </a:r>
            <a:r>
              <a:rPr lang="en-US" sz="1599" i="1" u="none" strike="noStrike" dirty="0" err="1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Rileverà</a:t>
            </a:r>
            <a:r>
              <a:rPr lang="en-US" sz="1599" i="1" u="none" strike="noStrike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1599" i="1" u="none" strike="noStrike" dirty="0" err="1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</a:t>
            </a:r>
            <a:r>
              <a:rPr lang="en-US" sz="1599" i="1" u="none" strike="noStrike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1599" i="1" u="none" strike="noStrike" dirty="0" err="1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requisiti</a:t>
            </a:r>
            <a:r>
              <a:rPr lang="en-US" sz="1599" i="1" u="none" strike="noStrike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1599" i="1" u="none" strike="noStrike" dirty="0" err="1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principali</a:t>
            </a:r>
            <a:r>
              <a:rPr lang="en-US" sz="1599" i="1" u="none" strike="noStrike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</a:t>
            </a:r>
            <a:r>
              <a:rPr lang="en-US" sz="1599" i="1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 li </a:t>
            </a:r>
            <a:r>
              <a:rPr lang="en-US" sz="1599" i="1" dirty="0" err="1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trasformerà</a:t>
            </a:r>
            <a:r>
              <a:rPr lang="en-US" sz="1599" i="1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 in un prompt </a:t>
            </a:r>
            <a:r>
              <a:rPr lang="en-US" sz="1599" i="1" dirty="0" err="1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perfetto</a:t>
            </a:r>
            <a:r>
              <a:rPr lang="en-US" sz="1599" i="1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.</a:t>
            </a:r>
            <a:r>
              <a:rPr lang="en-US" sz="1599" i="1" u="none" strike="noStrike" dirty="0">
                <a:solidFill>
                  <a:srgbClr val="CCCCC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54500" y="9791700"/>
            <a:ext cx="952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4 / 7</a:t>
            </a:r>
          </a:p>
        </p:txBody>
      </p:sp>
      <p:sp>
        <p:nvSpPr>
          <p:cNvPr id="21" name="Intro Line">
            <a:extLst>
              <a:ext uri="{FF2B5EF4-FFF2-40B4-BE49-F238E27FC236}">
                <a16:creationId xmlns:a16="http://schemas.microsoft.com/office/drawing/2014/main" id="{87CC7D7F-0372-C60C-8AFE-7E267C521BB8}"/>
              </a:ext>
            </a:extLst>
          </p:cNvPr>
          <p:cNvSpPr txBox="1"/>
          <p:nvPr/>
        </p:nvSpPr>
        <p:spPr>
          <a:xfrm>
            <a:off x="914400" y="2247900"/>
            <a:ext cx="16459200" cy="43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ctr">
              <a:lnSpc>
                <a:spcPts val="1700"/>
              </a:lnSpc>
            </a:pPr>
            <a:r>
              <a:rPr lang="en-US" sz="130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Build a complete multi-page cybersecurity awareness platform called </a:t>
            </a:r>
            <a:r>
              <a:rPr lang="en-US" sz="1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Cyber Fun</a:t>
            </a:r>
            <a:r>
              <a:rPr lang="en-US" sz="130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 using React + Tailwind CSS.</a:t>
            </a:r>
          </a:p>
        </p:txBody>
      </p:sp>
      <p:sp>
        <p:nvSpPr>
          <p:cNvPr id="23" name="Card Goal Design">
            <a:extLst>
              <a:ext uri="{FF2B5EF4-FFF2-40B4-BE49-F238E27FC236}">
                <a16:creationId xmlns:a16="http://schemas.microsoft.com/office/drawing/2014/main" id="{C02BD4F6-BA8C-5A42-F4F0-75BF047DD9F9}"/>
              </a:ext>
            </a:extLst>
          </p:cNvPr>
          <p:cNvSpPr/>
          <p:nvPr/>
        </p:nvSpPr>
        <p:spPr>
          <a:xfrm>
            <a:off x="914400" y="2798180"/>
            <a:ext cx="3874770" cy="5440000"/>
          </a:xfrm>
          <a:prstGeom prst="roundRect">
            <a:avLst>
              <a:gd name="adj" fmla="val 55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txBody>
          <a:bodyPr wrap="square" lIns="146304" tIns="118872" rIns="146304" bIns="100584" rtlCol="0" anchor="t">
            <a:norm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 &amp; Design</a:t>
            </a:r>
          </a:p>
          <a:p>
            <a:pPr algn="l">
              <a:lnSpc>
                <a:spcPts val="1650"/>
              </a:lnSpc>
              <a:spcBef>
                <a:spcPts val="0"/>
              </a:spcBef>
            </a:pPr>
            <a:endParaRPr lang="en-US" sz="16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GOAL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Teach cybersecurity to kids, seniors, and non-technical users.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Friendly, never scary. All content in English and Italian.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Language toggle in the navbar, persisted in </a:t>
            </a:r>
            <a:r>
              <a:rPr lang="en-US" sz="1200" dirty="0" err="1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localStorage</a:t>
            </a: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1300"/>
              </a:lnSpc>
              <a:spcBef>
                <a:spcPts val="640"/>
              </a:spcBef>
            </a:pPr>
            <a:r>
              <a:rPr lang="en-US" sz="12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DESIGN SYSTEM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Warm white background, teal primary, blue and cyan accents.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Glass-morphism cards, backdrop blur, soft borders, rounded corners.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Fonts: Nunito headings, Plus Jakarta Sans body. Min 16px for accessibility.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Fully responsive with a mobile hamburger menu. No dark mode.</a:t>
            </a:r>
          </a:p>
          <a:p>
            <a:pPr algn="l">
              <a:lnSpc>
                <a:spcPts val="1300"/>
              </a:lnSpc>
              <a:spcBef>
                <a:spcPts val="640"/>
              </a:spcBef>
            </a:pPr>
            <a:r>
              <a:rPr lang="en-US" sz="12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NAVBAR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Logo left: Cyber Fun. Solid white, sticky, not transparent.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Links: Home, Learn, Practice dropdown (Memory + Connect Game), Tools, EN/IT toggle.</a:t>
            </a:r>
          </a:p>
        </p:txBody>
      </p:sp>
      <p:sp>
        <p:nvSpPr>
          <p:cNvPr id="25" name="Card Learning Pages">
            <a:extLst>
              <a:ext uri="{FF2B5EF4-FFF2-40B4-BE49-F238E27FC236}">
                <a16:creationId xmlns:a16="http://schemas.microsoft.com/office/drawing/2014/main" id="{B4B0E7AA-1A3D-28C6-1109-11F38DFC7228}"/>
              </a:ext>
            </a:extLst>
          </p:cNvPr>
          <p:cNvSpPr/>
          <p:nvPr/>
        </p:nvSpPr>
        <p:spPr>
          <a:xfrm>
            <a:off x="5109210" y="2798180"/>
            <a:ext cx="3874770" cy="5440000"/>
          </a:xfrm>
          <a:prstGeom prst="roundRect">
            <a:avLst>
              <a:gd name="adj" fmla="val 55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txBody>
          <a:bodyPr wrap="square" lIns="146304" tIns="118872" rIns="146304" bIns="100584" rtlCol="0" anchor="t">
            <a:norm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Learning Pages</a:t>
            </a:r>
          </a:p>
          <a:p>
            <a:pPr algn="l">
              <a:lnSpc>
                <a:spcPts val="1650"/>
              </a:lnSpc>
              <a:spcBef>
                <a:spcPts val="0"/>
              </a:spcBef>
            </a:pPr>
            <a:endParaRPr lang="en-US" sz="16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HOME PAGE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Hero: a full 3D scene of a happy family — teenager, mom, dad, grandma and a pet — using devices safely together.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Headline and subtitle in EN/IT; CTA scrolls to features.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Feature grid of 4 cards — Learn, Memory Game, Connect Game, Tools — each with a </a:t>
            </a:r>
            <a:r>
              <a:rPr lang="en-US" sz="1200" dirty="0" err="1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Lucide</a:t>
            </a: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 icon.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Threat map section before the footer.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Footer: Made with Good Vibes — Terms, Privacy, </a:t>
            </a:r>
            <a:r>
              <a:rPr lang="en-US" sz="1200" dirty="0" err="1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teodorina.tech</a:t>
            </a: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1300"/>
              </a:lnSpc>
              <a:spcBef>
                <a:spcPts val="640"/>
              </a:spcBef>
            </a:pPr>
            <a:r>
              <a:rPr lang="en-US" sz="12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LEARN PAGE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3 chapters, each with a large </a:t>
            </a:r>
            <a:r>
              <a:rPr lang="en-US" sz="1200" dirty="0" err="1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Lucide</a:t>
            </a: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 icon, title, plain-language text, real-life example and a Did you know tip card.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1. What is cybersecurity   2. Why it matters   3. How to spot threats.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All content EN/IT.</a:t>
            </a:r>
          </a:p>
        </p:txBody>
      </p:sp>
      <p:sp>
        <p:nvSpPr>
          <p:cNvPr id="27" name="Card Entertainment Pages">
            <a:extLst>
              <a:ext uri="{FF2B5EF4-FFF2-40B4-BE49-F238E27FC236}">
                <a16:creationId xmlns:a16="http://schemas.microsoft.com/office/drawing/2014/main" id="{2F6408AD-311F-598F-6166-E59A7AA4BEA8}"/>
              </a:ext>
            </a:extLst>
          </p:cNvPr>
          <p:cNvSpPr/>
          <p:nvPr/>
        </p:nvSpPr>
        <p:spPr>
          <a:xfrm>
            <a:off x="9304020" y="2798180"/>
            <a:ext cx="3874770" cy="5440000"/>
          </a:xfrm>
          <a:prstGeom prst="roundRect">
            <a:avLst>
              <a:gd name="adj" fmla="val 55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txBody>
          <a:bodyPr wrap="square" lIns="146304" tIns="118872" rIns="146304" bIns="100584" rtlCol="0" anchor="t">
            <a:normAutofit fontScale="92500"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Entertainment Pages</a:t>
            </a:r>
          </a:p>
          <a:p>
            <a:pPr algn="l">
              <a:lnSpc>
                <a:spcPts val="1650"/>
              </a:lnSpc>
              <a:spcBef>
                <a:spcPts val="0"/>
              </a:spcBef>
            </a:pPr>
            <a:endParaRPr lang="en-US" sz="20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MEMORY GAME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4x4 flip-card grid: match each term to its definition.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Card front shows a </a:t>
            </a:r>
            <a:r>
              <a:rPr lang="en-US" sz="1050" dirty="0" err="1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Lucide</a:t>
            </a: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 icon and label, back shows the definition.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Pairs: Phishing, 2FA, VPN, Malware, Firewall, Backup, Password, Hacker.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Flip animation, matched pairs highlight teal, score counter.</a:t>
            </a:r>
          </a:p>
          <a:p>
            <a:pPr algn="l">
              <a:lnSpc>
                <a:spcPts val="1300"/>
              </a:lnSpc>
              <a:spcBef>
                <a:spcPts val="640"/>
              </a:spcBef>
            </a:pPr>
            <a:r>
              <a:rPr lang="en-US" sz="11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CONNECT GAME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Two columns — terms left, definitions right.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Click a term then a definition; an SVG line draws between them.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Green when correct; red when wrong, disappearing after one second.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Score counter, shuffle and reset, all labels EN/IT.</a:t>
            </a:r>
          </a:p>
          <a:p>
            <a:pPr algn="l">
              <a:lnSpc>
                <a:spcPts val="1300"/>
              </a:lnSpc>
              <a:spcBef>
                <a:spcPts val="640"/>
              </a:spcBef>
            </a:pPr>
            <a:r>
              <a:rPr lang="en-US" sz="11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TOOLS — THREE TABS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Phishing Detector: paste or upload a message (OCR via tesseract.js; </a:t>
            </a:r>
            <a:r>
              <a:rPr lang="en-US" sz="1050" dirty="0" err="1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eml</a:t>
            </a: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, txt, html), returning danger level, red flags and an EN/IT verdict, plus three samples.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Password Checker: show/hide input, animated strength meter, criteria checklist; fully client-side.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05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Cyber Hygiene Quiz: 10 yes/no questions, Home or Company toggle, badges (Beginner, Aware, Guardian).</a:t>
            </a:r>
          </a:p>
        </p:txBody>
      </p:sp>
      <p:sp>
        <p:nvSpPr>
          <p:cNvPr id="29" name="Card Other Details">
            <a:extLst>
              <a:ext uri="{FF2B5EF4-FFF2-40B4-BE49-F238E27FC236}">
                <a16:creationId xmlns:a16="http://schemas.microsoft.com/office/drawing/2014/main" id="{ED3BA889-4C72-11D8-C3FC-1813E21B99C7}"/>
              </a:ext>
            </a:extLst>
          </p:cNvPr>
          <p:cNvSpPr/>
          <p:nvPr/>
        </p:nvSpPr>
        <p:spPr>
          <a:xfrm>
            <a:off x="13498830" y="2798180"/>
            <a:ext cx="3874770" cy="5440000"/>
          </a:xfrm>
          <a:prstGeom prst="roundRect">
            <a:avLst>
              <a:gd name="adj" fmla="val 55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2000"/>
              </a:srgbClr>
            </a:solidFill>
          </a:ln>
        </p:spPr>
        <p:txBody>
          <a:bodyPr wrap="square" lIns="146304" tIns="118872" rIns="146304" bIns="100584" rtlCol="0" anchor="t">
            <a:norm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Other Details</a:t>
            </a:r>
          </a:p>
          <a:p>
            <a:pPr algn="l">
              <a:lnSpc>
                <a:spcPts val="1650"/>
              </a:lnSpc>
              <a:spcBef>
                <a:spcPts val="0"/>
              </a:spcBef>
            </a:pPr>
            <a:endParaRPr lang="en-US" sz="16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3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THREAT MAP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Accurate 2D world map (react-simple-maps + </a:t>
            </a:r>
            <a:r>
              <a:rPr lang="en-US" sz="1200" dirty="0" err="1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GeoJSON</a:t>
            </a: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) on Home, before the footer.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Pulsing animated markers on major world cities.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Auto-incrementing counters: attacks today, countries affected, threats blocked.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Country filter dropdown; top 5 attacked countries with bar indicators.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Attack types: Phishing, Malware, DDoS, Ransomware, Other.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Live feed of the last 5 alerts (type, location, time).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Stats panel beside the map on desktop, below it on tablet and mobile.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Colors match the site teal and blue palette; solid card background.</a:t>
            </a:r>
          </a:p>
          <a:p>
            <a:pPr algn="l">
              <a:lnSpc>
                <a:spcPts val="1300"/>
              </a:lnSpc>
              <a:spcBef>
                <a:spcPts val="640"/>
              </a:spcBef>
            </a:pPr>
            <a:r>
              <a:rPr lang="en-US" sz="12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FOOTER PAGES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Terms — legally correct for an educational, non-commercial site (EN/IT).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Privacy — GDPR compliant (EN/IT).</a:t>
            </a:r>
          </a:p>
          <a:p>
            <a:pPr algn="l">
              <a:lnSpc>
                <a:spcPts val="1300"/>
              </a:lnSpc>
              <a:spcBef>
                <a:spcPts val="640"/>
              </a:spcBef>
            </a:pPr>
            <a:r>
              <a:rPr lang="en-US" sz="1200" b="1" dirty="0">
                <a:solidFill>
                  <a:srgbClr val="D9D2CB"/>
                </a:solidFill>
                <a:latin typeface="Poppins"/>
                <a:ea typeface="Poppins"/>
                <a:cs typeface="Poppins"/>
                <a:sym typeface="Poppins"/>
              </a:rPr>
              <a:t>LANGUAGE</a:t>
            </a:r>
          </a:p>
          <a:p>
            <a:pPr algn="l">
              <a:lnSpc>
                <a:spcPts val="1380"/>
              </a:lnSpc>
              <a:spcBef>
                <a:spcPts val="150"/>
              </a:spcBef>
            </a:pP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Full EN/IT translation across all pages; toggles instantly, persists in </a:t>
            </a:r>
            <a:r>
              <a:rPr lang="en-US" sz="1200" dirty="0" err="1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localStorage</a:t>
            </a:r>
            <a:r>
              <a:rPr lang="en-US" sz="1200" dirty="0">
                <a:solidFill>
                  <a:srgbClr val="D3CAC2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9050"/>
            <a:ext cx="18401813" cy="2065740"/>
          </a:xfrm>
          <a:custGeom>
            <a:avLst/>
            <a:gdLst/>
            <a:ahLst/>
            <a:cxnLst/>
            <a:rect l="l" t="t" r="r" b="b"/>
            <a:pathLst>
              <a:path w="18401813" h="2065740">
                <a:moveTo>
                  <a:pt x="0" y="0"/>
                </a:moveTo>
                <a:lnTo>
                  <a:pt x="18401813" y="0"/>
                </a:lnTo>
                <a:lnTo>
                  <a:pt x="18401813" y="2065740"/>
                </a:lnTo>
                <a:lnTo>
                  <a:pt x="0" y="20657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 t="-106112" b="-404497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TextBox 3"/>
          <p:cNvSpPr txBox="1"/>
          <p:nvPr/>
        </p:nvSpPr>
        <p:spPr>
          <a:xfrm>
            <a:off x="1562100" y="622780"/>
            <a:ext cx="15240000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4999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D A L   P R O M P T   A L   P R O G E T T O   L I V 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1500" y="2368875"/>
            <a:ext cx="95250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i="1" u="none" strike="noStrike">
                <a:solidFill>
                  <a:srgbClr val="77777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Vibe coding accelera il percorso, ma ogni fase ha un controllo.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52500" y="3290260"/>
            <a:ext cx="3924300" cy="2667000"/>
            <a:chOff x="0" y="0"/>
            <a:chExt cx="5232400" cy="355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32400" cy="3556000"/>
            </a:xfrm>
            <a:custGeom>
              <a:avLst/>
              <a:gdLst/>
              <a:ahLst/>
              <a:cxnLst/>
              <a:rect l="l" t="t" r="r" b="b"/>
              <a:pathLst>
                <a:path w="5232400" h="3556000">
                  <a:moveTo>
                    <a:pt x="457200" y="0"/>
                  </a:moveTo>
                  <a:lnTo>
                    <a:pt x="4775200" y="0"/>
                  </a:lnTo>
                  <a:cubicBezTo>
                    <a:pt x="5027705" y="0"/>
                    <a:pt x="5232400" y="159208"/>
                    <a:pt x="5232400" y="355600"/>
                  </a:cubicBezTo>
                  <a:lnTo>
                    <a:pt x="5232400" y="3200400"/>
                  </a:lnTo>
                  <a:cubicBezTo>
                    <a:pt x="5232400" y="3396793"/>
                    <a:pt x="5027705" y="3556000"/>
                    <a:pt x="4775200" y="3556000"/>
                  </a:cubicBezTo>
                  <a:lnTo>
                    <a:pt x="457200" y="3556000"/>
                  </a:lnTo>
                  <a:cubicBezTo>
                    <a:pt x="204695" y="3556000"/>
                    <a:pt x="0" y="3396793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204695" y="0"/>
                    <a:pt x="457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232400" cy="359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43000" y="3528385"/>
            <a:ext cx="35433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5375" y="4480885"/>
            <a:ext cx="3638550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PLAN &amp; DESIGN UI/UX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343150" y="4991100"/>
            <a:ext cx="1143000" cy="285750"/>
            <a:chOff x="0" y="0"/>
            <a:chExt cx="1524000" cy="381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1333500" y="0"/>
                  </a:moveTo>
                  <a:cubicBezTo>
                    <a:pt x="1438710" y="0"/>
                    <a:pt x="1524000" y="85290"/>
                    <a:pt x="1524000" y="190500"/>
                  </a:cubicBezTo>
                  <a:cubicBezTo>
                    <a:pt x="1524000" y="295710"/>
                    <a:pt x="1438710" y="381000"/>
                    <a:pt x="13335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555555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43150" y="5023810"/>
            <a:ext cx="1143000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 dirty="0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1-2 gg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5375" y="5471485"/>
            <a:ext cx="3638550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Figma AI · Canva · Framer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105400" y="3290260"/>
            <a:ext cx="3924300" cy="2667000"/>
            <a:chOff x="0" y="0"/>
            <a:chExt cx="5232400" cy="355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32400" cy="3556000"/>
            </a:xfrm>
            <a:custGeom>
              <a:avLst/>
              <a:gdLst/>
              <a:ahLst/>
              <a:cxnLst/>
              <a:rect l="l" t="t" r="r" b="b"/>
              <a:pathLst>
                <a:path w="5232400" h="3556000">
                  <a:moveTo>
                    <a:pt x="457200" y="0"/>
                  </a:moveTo>
                  <a:lnTo>
                    <a:pt x="4775200" y="0"/>
                  </a:lnTo>
                  <a:cubicBezTo>
                    <a:pt x="5027705" y="0"/>
                    <a:pt x="5232400" y="159208"/>
                    <a:pt x="5232400" y="355600"/>
                  </a:cubicBezTo>
                  <a:lnTo>
                    <a:pt x="5232400" y="3200400"/>
                  </a:lnTo>
                  <a:cubicBezTo>
                    <a:pt x="5232400" y="3396793"/>
                    <a:pt x="5027705" y="3556000"/>
                    <a:pt x="4775200" y="3556000"/>
                  </a:cubicBezTo>
                  <a:lnTo>
                    <a:pt x="457200" y="3556000"/>
                  </a:lnTo>
                  <a:cubicBezTo>
                    <a:pt x="204695" y="3556000"/>
                    <a:pt x="0" y="3396793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204695" y="0"/>
                    <a:pt x="457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232400" cy="359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295900" y="3528385"/>
            <a:ext cx="35433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48275" y="4480885"/>
            <a:ext cx="3638550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COSTRUISCI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496050" y="4991100"/>
            <a:ext cx="1143000" cy="285750"/>
            <a:chOff x="0" y="0"/>
            <a:chExt cx="1524000" cy="381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1333500" y="0"/>
                  </a:moveTo>
                  <a:cubicBezTo>
                    <a:pt x="1438710" y="0"/>
                    <a:pt x="1524000" y="85290"/>
                    <a:pt x="1524000" y="190500"/>
                  </a:cubicBezTo>
                  <a:cubicBezTo>
                    <a:pt x="1524000" y="295710"/>
                    <a:pt x="1438710" y="381000"/>
                    <a:pt x="13335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555555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496050" y="5023810"/>
            <a:ext cx="1143000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1-3 gg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48275" y="5471485"/>
            <a:ext cx="3638550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Lovable · Bolt · v0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258300" y="3290260"/>
            <a:ext cx="3924300" cy="2667000"/>
            <a:chOff x="0" y="0"/>
            <a:chExt cx="5232400" cy="3556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232400" cy="3556000"/>
            </a:xfrm>
            <a:custGeom>
              <a:avLst/>
              <a:gdLst/>
              <a:ahLst/>
              <a:cxnLst/>
              <a:rect l="l" t="t" r="r" b="b"/>
              <a:pathLst>
                <a:path w="5232400" h="3556000">
                  <a:moveTo>
                    <a:pt x="457200" y="0"/>
                  </a:moveTo>
                  <a:lnTo>
                    <a:pt x="4775200" y="0"/>
                  </a:lnTo>
                  <a:cubicBezTo>
                    <a:pt x="5027705" y="0"/>
                    <a:pt x="5232400" y="159208"/>
                    <a:pt x="5232400" y="355600"/>
                  </a:cubicBezTo>
                  <a:lnTo>
                    <a:pt x="5232400" y="3200400"/>
                  </a:lnTo>
                  <a:cubicBezTo>
                    <a:pt x="5232400" y="3396793"/>
                    <a:pt x="5027705" y="3556000"/>
                    <a:pt x="4775200" y="3556000"/>
                  </a:cubicBezTo>
                  <a:lnTo>
                    <a:pt x="457200" y="3556000"/>
                  </a:lnTo>
                  <a:cubicBezTo>
                    <a:pt x="204695" y="3556000"/>
                    <a:pt x="0" y="3396793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204695" y="0"/>
                    <a:pt x="457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232400" cy="359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448800" y="3528385"/>
            <a:ext cx="35433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01175" y="4480885"/>
            <a:ext cx="363855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TEST &amp; REVIEW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648950" y="4991100"/>
            <a:ext cx="1143000" cy="285750"/>
            <a:chOff x="0" y="0"/>
            <a:chExt cx="1524000" cy="381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1333500" y="0"/>
                  </a:moveTo>
                  <a:cubicBezTo>
                    <a:pt x="1438710" y="0"/>
                    <a:pt x="1524000" y="85290"/>
                    <a:pt x="1524000" y="190500"/>
                  </a:cubicBezTo>
                  <a:cubicBezTo>
                    <a:pt x="1524000" y="295710"/>
                    <a:pt x="1438710" y="381000"/>
                    <a:pt x="13335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555555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0648950" y="5023810"/>
            <a:ext cx="11430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1-2 gg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01175" y="5471485"/>
            <a:ext cx="363855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Jest · Cypress · BrowserStack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3411200" y="3290260"/>
            <a:ext cx="3924300" cy="2667000"/>
            <a:chOff x="0" y="0"/>
            <a:chExt cx="5232400" cy="3556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232400" cy="3556000"/>
            </a:xfrm>
            <a:custGeom>
              <a:avLst/>
              <a:gdLst/>
              <a:ahLst/>
              <a:cxnLst/>
              <a:rect l="l" t="t" r="r" b="b"/>
              <a:pathLst>
                <a:path w="5232400" h="3556000">
                  <a:moveTo>
                    <a:pt x="457200" y="0"/>
                  </a:moveTo>
                  <a:lnTo>
                    <a:pt x="4775200" y="0"/>
                  </a:lnTo>
                  <a:cubicBezTo>
                    <a:pt x="5027705" y="0"/>
                    <a:pt x="5232400" y="159208"/>
                    <a:pt x="5232400" y="355600"/>
                  </a:cubicBezTo>
                  <a:lnTo>
                    <a:pt x="5232400" y="3200400"/>
                  </a:lnTo>
                  <a:cubicBezTo>
                    <a:pt x="5232400" y="3396793"/>
                    <a:pt x="5027705" y="3556000"/>
                    <a:pt x="4775200" y="3556000"/>
                  </a:cubicBezTo>
                  <a:lnTo>
                    <a:pt x="457200" y="3556000"/>
                  </a:lnTo>
                  <a:cubicBezTo>
                    <a:pt x="204695" y="3556000"/>
                    <a:pt x="0" y="3396793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204695" y="0"/>
                    <a:pt x="457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5232400" cy="359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3601700" y="3528385"/>
            <a:ext cx="35433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04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554075" y="4480885"/>
            <a:ext cx="363855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SECURITY AUDIT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4801850" y="4991100"/>
            <a:ext cx="1143000" cy="285750"/>
            <a:chOff x="0" y="0"/>
            <a:chExt cx="1524000" cy="3810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1333500" y="0"/>
                  </a:moveTo>
                  <a:cubicBezTo>
                    <a:pt x="1438710" y="0"/>
                    <a:pt x="1524000" y="85290"/>
                    <a:pt x="1524000" y="190500"/>
                  </a:cubicBezTo>
                  <a:cubicBezTo>
                    <a:pt x="1524000" y="295710"/>
                    <a:pt x="1438710" y="381000"/>
                    <a:pt x="13335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555555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4801850" y="5023810"/>
            <a:ext cx="11430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1 giorno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554075" y="5471485"/>
            <a:ext cx="363855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OWASP ZAP · Snyk · Semgrep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952500" y="6185860"/>
            <a:ext cx="3924300" cy="2667000"/>
            <a:chOff x="0" y="0"/>
            <a:chExt cx="5232400" cy="3556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232400" cy="3556000"/>
            </a:xfrm>
            <a:custGeom>
              <a:avLst/>
              <a:gdLst/>
              <a:ahLst/>
              <a:cxnLst/>
              <a:rect l="l" t="t" r="r" b="b"/>
              <a:pathLst>
                <a:path w="5232400" h="3556000">
                  <a:moveTo>
                    <a:pt x="457200" y="0"/>
                  </a:moveTo>
                  <a:lnTo>
                    <a:pt x="4775200" y="0"/>
                  </a:lnTo>
                  <a:cubicBezTo>
                    <a:pt x="5027705" y="0"/>
                    <a:pt x="5232400" y="159208"/>
                    <a:pt x="5232400" y="355600"/>
                  </a:cubicBezTo>
                  <a:lnTo>
                    <a:pt x="5232400" y="3200400"/>
                  </a:lnTo>
                  <a:cubicBezTo>
                    <a:pt x="5232400" y="3396793"/>
                    <a:pt x="5027705" y="3556000"/>
                    <a:pt x="4775200" y="3556000"/>
                  </a:cubicBezTo>
                  <a:lnTo>
                    <a:pt x="457200" y="3556000"/>
                  </a:lnTo>
                  <a:cubicBezTo>
                    <a:pt x="204695" y="3556000"/>
                    <a:pt x="0" y="3396793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204695" y="0"/>
                    <a:pt x="457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5232400" cy="359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3000" y="6328735"/>
            <a:ext cx="35433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95375" y="7281235"/>
            <a:ext cx="363855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VERSION CTRL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2343150" y="7734300"/>
            <a:ext cx="1143000" cy="285750"/>
            <a:chOff x="0" y="0"/>
            <a:chExt cx="1524000" cy="381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1333500" y="0"/>
                  </a:moveTo>
                  <a:cubicBezTo>
                    <a:pt x="1438710" y="0"/>
                    <a:pt x="1524000" y="85290"/>
                    <a:pt x="1524000" y="190500"/>
                  </a:cubicBezTo>
                  <a:cubicBezTo>
                    <a:pt x="1524000" y="295710"/>
                    <a:pt x="1438710" y="381000"/>
                    <a:pt x="13335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555555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2343150" y="7776535"/>
            <a:ext cx="1143000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 dirty="0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30 min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95375" y="8224210"/>
            <a:ext cx="363855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GitHub · GitLab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5105400" y="6185860"/>
            <a:ext cx="3924300" cy="2667000"/>
            <a:chOff x="0" y="0"/>
            <a:chExt cx="5232400" cy="35560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232400" cy="3556000"/>
            </a:xfrm>
            <a:custGeom>
              <a:avLst/>
              <a:gdLst/>
              <a:ahLst/>
              <a:cxnLst/>
              <a:rect l="l" t="t" r="r" b="b"/>
              <a:pathLst>
                <a:path w="5232400" h="3556000">
                  <a:moveTo>
                    <a:pt x="457200" y="0"/>
                  </a:moveTo>
                  <a:lnTo>
                    <a:pt x="4775200" y="0"/>
                  </a:lnTo>
                  <a:cubicBezTo>
                    <a:pt x="5027705" y="0"/>
                    <a:pt x="5232400" y="159208"/>
                    <a:pt x="5232400" y="355600"/>
                  </a:cubicBezTo>
                  <a:lnTo>
                    <a:pt x="5232400" y="3200400"/>
                  </a:lnTo>
                  <a:cubicBezTo>
                    <a:pt x="5232400" y="3396793"/>
                    <a:pt x="5027705" y="3556000"/>
                    <a:pt x="4775200" y="3556000"/>
                  </a:cubicBezTo>
                  <a:lnTo>
                    <a:pt x="457200" y="3556000"/>
                  </a:lnTo>
                  <a:cubicBezTo>
                    <a:pt x="204695" y="3556000"/>
                    <a:pt x="0" y="3396793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204695" y="0"/>
                    <a:pt x="457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5232400" cy="359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5295900" y="6328735"/>
            <a:ext cx="35433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06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248275" y="7281235"/>
            <a:ext cx="363855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DEPLOY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6496050" y="7734300"/>
            <a:ext cx="1143000" cy="285750"/>
            <a:chOff x="0" y="0"/>
            <a:chExt cx="1524000" cy="3810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1333500" y="0"/>
                  </a:moveTo>
                  <a:cubicBezTo>
                    <a:pt x="1438710" y="0"/>
                    <a:pt x="1524000" y="85290"/>
                    <a:pt x="1524000" y="190500"/>
                  </a:cubicBezTo>
                  <a:cubicBezTo>
                    <a:pt x="1524000" y="295710"/>
                    <a:pt x="1438710" y="381000"/>
                    <a:pt x="13335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555555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6496050" y="7776535"/>
            <a:ext cx="1143000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 dirty="0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Few hours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248275" y="8224210"/>
            <a:ext cx="363855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Vercel · Netlify · Render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9258300" y="6185860"/>
            <a:ext cx="3924300" cy="2667000"/>
            <a:chOff x="0" y="0"/>
            <a:chExt cx="5232400" cy="35560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232400" cy="3556000"/>
            </a:xfrm>
            <a:custGeom>
              <a:avLst/>
              <a:gdLst/>
              <a:ahLst/>
              <a:cxnLst/>
              <a:rect l="l" t="t" r="r" b="b"/>
              <a:pathLst>
                <a:path w="5232400" h="3556000">
                  <a:moveTo>
                    <a:pt x="457200" y="0"/>
                  </a:moveTo>
                  <a:lnTo>
                    <a:pt x="4775200" y="0"/>
                  </a:lnTo>
                  <a:cubicBezTo>
                    <a:pt x="5027705" y="0"/>
                    <a:pt x="5232400" y="159208"/>
                    <a:pt x="5232400" y="355600"/>
                  </a:cubicBezTo>
                  <a:lnTo>
                    <a:pt x="5232400" y="3200400"/>
                  </a:lnTo>
                  <a:cubicBezTo>
                    <a:pt x="5232400" y="3396793"/>
                    <a:pt x="5027705" y="3556000"/>
                    <a:pt x="4775200" y="3556000"/>
                  </a:cubicBezTo>
                  <a:lnTo>
                    <a:pt x="457200" y="3556000"/>
                  </a:lnTo>
                  <a:cubicBezTo>
                    <a:pt x="204695" y="3556000"/>
                    <a:pt x="0" y="3396793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204695" y="0"/>
                    <a:pt x="457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5232400" cy="359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9448800" y="6328735"/>
            <a:ext cx="35433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07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401175" y="7281235"/>
            <a:ext cx="363855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DOMAIN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10648950" y="7734300"/>
            <a:ext cx="1143000" cy="285750"/>
            <a:chOff x="0" y="0"/>
            <a:chExt cx="1524000" cy="3810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1333500" y="0"/>
                  </a:moveTo>
                  <a:cubicBezTo>
                    <a:pt x="1438710" y="0"/>
                    <a:pt x="1524000" y="85290"/>
                    <a:pt x="1524000" y="190500"/>
                  </a:cubicBezTo>
                  <a:cubicBezTo>
                    <a:pt x="1524000" y="295710"/>
                    <a:pt x="1438710" y="381000"/>
                    <a:pt x="13335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555555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0648950" y="7776535"/>
            <a:ext cx="1143000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 dirty="0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60 min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401175" y="8224210"/>
            <a:ext cx="363855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Cloudflare · Namecheap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13411200" y="6185860"/>
            <a:ext cx="3924300" cy="2667000"/>
            <a:chOff x="0" y="0"/>
            <a:chExt cx="5232400" cy="355600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5232400" cy="3556000"/>
            </a:xfrm>
            <a:custGeom>
              <a:avLst/>
              <a:gdLst/>
              <a:ahLst/>
              <a:cxnLst/>
              <a:rect l="l" t="t" r="r" b="b"/>
              <a:pathLst>
                <a:path w="5232400" h="3556000">
                  <a:moveTo>
                    <a:pt x="457200" y="0"/>
                  </a:moveTo>
                  <a:lnTo>
                    <a:pt x="4775200" y="0"/>
                  </a:lnTo>
                  <a:cubicBezTo>
                    <a:pt x="5027705" y="0"/>
                    <a:pt x="5232400" y="159208"/>
                    <a:pt x="5232400" y="355600"/>
                  </a:cubicBezTo>
                  <a:lnTo>
                    <a:pt x="5232400" y="3200400"/>
                  </a:lnTo>
                  <a:cubicBezTo>
                    <a:pt x="5232400" y="3396793"/>
                    <a:pt x="5027705" y="3556000"/>
                    <a:pt x="4775200" y="3556000"/>
                  </a:cubicBezTo>
                  <a:lnTo>
                    <a:pt x="457200" y="3556000"/>
                  </a:lnTo>
                  <a:cubicBezTo>
                    <a:pt x="204695" y="3556000"/>
                    <a:pt x="0" y="3396793"/>
                    <a:pt x="0" y="3200400"/>
                  </a:cubicBezTo>
                  <a:lnTo>
                    <a:pt x="0" y="355600"/>
                  </a:lnTo>
                  <a:cubicBezTo>
                    <a:pt x="0" y="159208"/>
                    <a:pt x="204695" y="0"/>
                    <a:pt x="457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5232400" cy="359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3601700" y="6328735"/>
            <a:ext cx="35433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08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3554075" y="7281235"/>
            <a:ext cx="3638550" cy="268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PUBLISH &amp; SHARE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14801850" y="7734300"/>
            <a:ext cx="1143000" cy="285750"/>
            <a:chOff x="0" y="0"/>
            <a:chExt cx="1524000" cy="3810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1333500" y="0"/>
                  </a:moveTo>
                  <a:cubicBezTo>
                    <a:pt x="1438710" y="0"/>
                    <a:pt x="1524000" y="85290"/>
                    <a:pt x="1524000" y="190500"/>
                  </a:cubicBezTo>
                  <a:cubicBezTo>
                    <a:pt x="1524000" y="295710"/>
                    <a:pt x="1438710" y="381000"/>
                    <a:pt x="13335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555555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1524000" cy="41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14801850" y="7776535"/>
            <a:ext cx="1143000" cy="183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 dirty="0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up to 24h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3554075" y="8224210"/>
            <a:ext cx="363855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QR · GitHub · links page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5372100" y="9281485"/>
            <a:ext cx="7620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 i="1" u="none" strike="noStrike">
                <a:solidFill>
                  <a:srgbClr val="55555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Vibe coding amplifica le tue competenze — non le sostituisce.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6954500" y="9791700"/>
            <a:ext cx="952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5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29000" y="504596"/>
            <a:ext cx="11430000" cy="1052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19"/>
              </a:lnSpc>
              <a:spcBef>
                <a:spcPct val="0"/>
              </a:spcBef>
            </a:pPr>
            <a:r>
              <a:rPr lang="en-US" sz="5799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CONCLUSIONI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57750" y="1629498"/>
            <a:ext cx="857250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i="1" u="none" strike="noStrike">
                <a:solidFill>
                  <a:srgbClr val="77777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Potente, se la sicurezza resta parte del processo.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563953"/>
            <a:ext cx="7544520" cy="4685800"/>
            <a:chOff x="0" y="0"/>
            <a:chExt cx="9525000" cy="59158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25000" cy="5915849"/>
            </a:xfrm>
            <a:custGeom>
              <a:avLst/>
              <a:gdLst/>
              <a:ahLst/>
              <a:cxnLst/>
              <a:rect l="l" t="t" r="r" b="b"/>
              <a:pathLst>
                <a:path w="9525000" h="5915849">
                  <a:moveTo>
                    <a:pt x="762000" y="0"/>
                  </a:moveTo>
                  <a:lnTo>
                    <a:pt x="8763000" y="0"/>
                  </a:lnTo>
                  <a:cubicBezTo>
                    <a:pt x="9183841" y="0"/>
                    <a:pt x="9525000" y="264862"/>
                    <a:pt x="9525000" y="591585"/>
                  </a:cubicBezTo>
                  <a:lnTo>
                    <a:pt x="9525000" y="5324265"/>
                  </a:lnTo>
                  <a:cubicBezTo>
                    <a:pt x="9525000" y="5650988"/>
                    <a:pt x="9183841" y="5915849"/>
                    <a:pt x="8763000" y="5915849"/>
                  </a:cubicBezTo>
                  <a:lnTo>
                    <a:pt x="762000" y="5915849"/>
                  </a:lnTo>
                  <a:cubicBezTo>
                    <a:pt x="341159" y="5915849"/>
                    <a:pt x="0" y="5650988"/>
                    <a:pt x="0" y="5324265"/>
                  </a:cubicBezTo>
                  <a:lnTo>
                    <a:pt x="0" y="591585"/>
                  </a:lnTo>
                  <a:cubicBezTo>
                    <a:pt x="0" y="264862"/>
                    <a:pt x="341159" y="0"/>
                    <a:pt x="762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9525000" cy="596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58164" y="2687670"/>
            <a:ext cx="1615018" cy="517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  <a:spcBef>
                <a:spcPct val="0"/>
              </a:spcBef>
            </a:pPr>
            <a:r>
              <a:rPr lang="en-US" sz="2913" u="none" strike="noStrike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PROS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8164" y="3503977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MVP in 3-5 giorni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8164" y="4205485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Accessibile a tutti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58164" y="4907132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Più spazio alla creatività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8164" y="5579905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Costo di validazione ridotto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8164" y="6252678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✓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Iterazione rapida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714780" y="2563953"/>
            <a:ext cx="7544520" cy="4685800"/>
            <a:chOff x="0" y="0"/>
            <a:chExt cx="9525000" cy="59158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525000" cy="5915849"/>
            </a:xfrm>
            <a:custGeom>
              <a:avLst/>
              <a:gdLst/>
              <a:ahLst/>
              <a:cxnLst/>
              <a:rect l="l" t="t" r="r" b="b"/>
              <a:pathLst>
                <a:path w="9525000" h="5915849">
                  <a:moveTo>
                    <a:pt x="762000" y="0"/>
                  </a:moveTo>
                  <a:lnTo>
                    <a:pt x="8763000" y="0"/>
                  </a:lnTo>
                  <a:cubicBezTo>
                    <a:pt x="9183841" y="0"/>
                    <a:pt x="9525000" y="264862"/>
                    <a:pt x="9525000" y="591585"/>
                  </a:cubicBezTo>
                  <a:lnTo>
                    <a:pt x="9525000" y="5324265"/>
                  </a:lnTo>
                  <a:cubicBezTo>
                    <a:pt x="9525000" y="5650988"/>
                    <a:pt x="9183841" y="5915849"/>
                    <a:pt x="8763000" y="5915849"/>
                  </a:cubicBezTo>
                  <a:lnTo>
                    <a:pt x="762000" y="5915849"/>
                  </a:lnTo>
                  <a:cubicBezTo>
                    <a:pt x="341159" y="5915849"/>
                    <a:pt x="0" y="5650988"/>
                    <a:pt x="0" y="5324265"/>
                  </a:cubicBezTo>
                  <a:lnTo>
                    <a:pt x="0" y="591585"/>
                  </a:lnTo>
                  <a:cubicBezTo>
                    <a:pt x="0" y="264862"/>
                    <a:pt x="341159" y="0"/>
                    <a:pt x="762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0C0C0">
                    <a:alpha val="20000"/>
                  </a:srgbClr>
                </a:gs>
                <a:gs pos="100000">
                  <a:srgbClr val="555555">
                    <a:alpha val="20000"/>
                  </a:srgbClr>
                </a:gs>
              </a:gsLst>
              <a:lin ang="5400000"/>
            </a:gradFill>
            <a:ln w="9525" cap="sq">
              <a:solidFill>
                <a:srgbClr val="444444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9525000" cy="596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444613" y="2687670"/>
            <a:ext cx="1510416" cy="517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  <a:spcBef>
                <a:spcPct val="0"/>
              </a:spcBef>
            </a:pPr>
            <a:r>
              <a:rPr lang="en-US" sz="2913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CONS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44613" y="3519982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Sicurezza a rischio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44613" y="4165270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Debug più complesso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44613" y="4907132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Fiducia in calo: 29%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44613" y="5589738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Richiede basi tecniche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44613" y="6312363"/>
            <a:ext cx="6538584" cy="40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67"/>
              </a:lnSpc>
              <a:spcBef>
                <a:spcPct val="0"/>
              </a:spcBef>
            </a:pPr>
            <a:r>
              <a:rPr lang="en-US" sz="2262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r>
              <a:rPr lang="en-US" sz="2262" u="none" strike="noStrike">
                <a:solidFill>
                  <a:srgbClr val="CCCCCC"/>
                </a:solidFill>
                <a:latin typeface="Poppins"/>
                <a:ea typeface="Poppins"/>
                <a:cs typeface="Poppins"/>
                <a:sym typeface="Poppins"/>
              </a:rPr>
              <a:t>  Allucinazioni plausibili</a:t>
            </a:r>
          </a:p>
        </p:txBody>
      </p:sp>
      <p:sp>
        <p:nvSpPr>
          <p:cNvPr id="22" name="Freeform 22"/>
          <p:cNvSpPr/>
          <p:nvPr/>
        </p:nvSpPr>
        <p:spPr>
          <a:xfrm>
            <a:off x="-56906" y="8259403"/>
            <a:ext cx="18401813" cy="2027597"/>
          </a:xfrm>
          <a:custGeom>
            <a:avLst/>
            <a:gdLst/>
            <a:ahLst/>
            <a:cxnLst/>
            <a:rect l="l" t="t" r="r" b="b"/>
            <a:pathLst>
              <a:path w="18401813" h="2027597">
                <a:moveTo>
                  <a:pt x="0" y="0"/>
                </a:moveTo>
                <a:lnTo>
                  <a:pt x="18401812" y="0"/>
                </a:lnTo>
                <a:lnTo>
                  <a:pt x="18401812" y="2027597"/>
                </a:lnTo>
                <a:lnTo>
                  <a:pt x="0" y="20275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 t="-217329" b="-304766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3" name="Group 23"/>
          <p:cNvGrpSpPr/>
          <p:nvPr/>
        </p:nvGrpSpPr>
        <p:grpSpPr>
          <a:xfrm>
            <a:off x="6286500" y="8827745"/>
            <a:ext cx="5715000" cy="476250"/>
            <a:chOff x="0" y="0"/>
            <a:chExt cx="7620000" cy="635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620000" cy="635000"/>
            </a:xfrm>
            <a:custGeom>
              <a:avLst/>
              <a:gdLst/>
              <a:ahLst/>
              <a:cxnLst/>
              <a:rect l="l" t="t" r="r" b="b"/>
              <a:pathLst>
                <a:path w="7620000" h="635000">
                  <a:moveTo>
                    <a:pt x="7302500" y="0"/>
                  </a:moveTo>
                  <a:cubicBezTo>
                    <a:pt x="7477851" y="0"/>
                    <a:pt x="7620000" y="142150"/>
                    <a:pt x="7620000" y="317500"/>
                  </a:cubicBezTo>
                  <a:cubicBezTo>
                    <a:pt x="7620000" y="492850"/>
                    <a:pt x="7477851" y="635000"/>
                    <a:pt x="7302500" y="635000"/>
                  </a:cubicBezTo>
                  <a:lnTo>
                    <a:pt x="317500" y="635000"/>
                  </a:lnTo>
                  <a:cubicBezTo>
                    <a:pt x="142150" y="635000"/>
                    <a:pt x="0" y="492850"/>
                    <a:pt x="0" y="317500"/>
                  </a:cubicBezTo>
                  <a:cubicBezTo>
                    <a:pt x="0" y="142150"/>
                    <a:pt x="142150" y="0"/>
                    <a:pt x="3175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88888">
                    <a:alpha val="20000"/>
                  </a:srgbClr>
                </a:gs>
                <a:gs pos="100000">
                  <a:srgbClr val="E8E8E8">
                    <a:alpha val="20000"/>
                  </a:srgbClr>
                </a:gs>
              </a:gsLst>
              <a:lin ang="0"/>
            </a:gradFill>
            <a:ln w="9525" cap="sq">
              <a:solidFill>
                <a:srgbClr val="666666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76200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0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524625" y="8841080"/>
            <a:ext cx="523875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u="none" strike="noStrike">
                <a:gradFill>
                  <a:gsLst>
                    <a:gs pos="0">
                      <a:srgbClr val="888888">
                        <a:alpha val="100000"/>
                      </a:srgbClr>
                    </a:gs>
                    <a:gs pos="100000">
                      <a:srgbClr val="E8E8E8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Learn first. Then vibe.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954500" y="9791700"/>
            <a:ext cx="952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6 / 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86500" y="9580220"/>
            <a:ext cx="571500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Made with Tech Passion for CYBERSECURITY 2026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2774" y="-332021"/>
            <a:ext cx="18926056" cy="4392159"/>
          </a:xfrm>
          <a:custGeom>
            <a:avLst/>
            <a:gdLst/>
            <a:ahLst/>
            <a:cxnLst/>
            <a:rect l="l" t="t" r="r" b="b"/>
            <a:pathLst>
              <a:path w="18926056" h="4392159">
                <a:moveTo>
                  <a:pt x="0" y="0"/>
                </a:moveTo>
                <a:lnTo>
                  <a:pt x="18926056" y="0"/>
                </a:lnTo>
                <a:lnTo>
                  <a:pt x="18926056" y="4392159"/>
                </a:lnTo>
                <a:lnTo>
                  <a:pt x="0" y="43921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000"/>
            </a:blip>
            <a:stretch>
              <a:fillRect t="-161609" b="-3375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03572" y="6022356"/>
            <a:ext cx="2788018" cy="2788018"/>
          </a:xfrm>
          <a:custGeom>
            <a:avLst/>
            <a:gdLst/>
            <a:ahLst/>
            <a:cxnLst/>
            <a:rect l="l" t="t" r="r" b="b"/>
            <a:pathLst>
              <a:path w="2788018" h="2788018">
                <a:moveTo>
                  <a:pt x="0" y="0"/>
                </a:moveTo>
                <a:lnTo>
                  <a:pt x="2788018" y="0"/>
                </a:lnTo>
                <a:lnTo>
                  <a:pt x="2788018" y="2788018"/>
                </a:lnTo>
                <a:lnTo>
                  <a:pt x="0" y="27880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0" y="1349892"/>
            <a:ext cx="18288000" cy="1343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499"/>
              </a:lnSpc>
              <a:spcBef>
                <a:spcPct val="0"/>
              </a:spcBef>
            </a:pPr>
            <a:r>
              <a:rPr lang="en-US" sz="7499" u="none" strike="noStrike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G R A Z I E   ·   T H A N K   Y O 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08347" y="8860221"/>
            <a:ext cx="2788018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0"/>
              </a:lnSpc>
              <a:spcBef>
                <a:spcPct val="0"/>
              </a:spcBef>
            </a:pPr>
            <a:r>
              <a:rPr lang="en-US" sz="1400" u="none" strike="noStrike">
                <a:solidFill>
                  <a:srgbClr val="C0C0C0"/>
                </a:solidFill>
                <a:latin typeface="Poppins"/>
                <a:ea typeface="Poppins"/>
                <a:cs typeface="Poppins"/>
                <a:sym typeface="Poppins"/>
              </a:rPr>
              <a:t>teodorina.tech/links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86055" y="5213084"/>
            <a:ext cx="7888255" cy="825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59"/>
              </a:lnSpc>
              <a:spcBef>
                <a:spcPct val="0"/>
              </a:spcBef>
            </a:pPr>
            <a:r>
              <a:rPr lang="en-US" sz="4613" u="none" strike="noStrike">
                <a:gradFill>
                  <a:gsLst>
                    <a:gs pos="0">
                      <a:srgbClr val="C0C0C0">
                        <a:alpha val="100000"/>
                      </a:srgbClr>
                    </a:gs>
                    <a:gs pos="100000">
                      <a:srgbClr val="555555">
                        <a:alpha val="100000"/>
                      </a:srgbClr>
                    </a:gs>
                  </a:gsLst>
                  <a:lin ang="5400000"/>
                </a:gradFill>
                <a:latin typeface="Poppins"/>
                <a:ea typeface="Poppins"/>
                <a:cs typeface="Poppins"/>
                <a:sym typeface="Poppins"/>
              </a:rPr>
              <a:t>TEODORINA LUNGU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86055" y="6327209"/>
            <a:ext cx="7888255" cy="39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6"/>
              </a:lnSpc>
              <a:spcBef>
                <a:spcPct val="0"/>
              </a:spcBef>
            </a:pPr>
            <a:r>
              <a:rPr lang="en-US" sz="2290" u="none" strike="noStrike">
                <a:solidFill>
                  <a:srgbClr val="777777"/>
                </a:solidFill>
                <a:latin typeface="Poppins"/>
                <a:ea typeface="Poppins"/>
                <a:cs typeface="Poppins"/>
                <a:sym typeface="Poppins"/>
              </a:rPr>
              <a:t>teodorina.tech · info@teodorina.tech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86055" y="7063068"/>
            <a:ext cx="8652852" cy="744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85"/>
              </a:lnSpc>
              <a:spcBef>
                <a:spcPct val="0"/>
              </a:spcBef>
            </a:pPr>
            <a:r>
              <a:rPr lang="en-US" sz="1990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Cybersecurity: Una Gara da Vincere</a:t>
            </a:r>
          </a:p>
          <a:p>
            <a:pPr marL="0" lvl="0" indent="0" algn="l">
              <a:lnSpc>
                <a:spcPts val="2705"/>
              </a:lnSpc>
              <a:spcBef>
                <a:spcPct val="0"/>
              </a:spcBef>
            </a:pPr>
            <a:r>
              <a:rPr lang="en-US" sz="1690" u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5a Edizione · Imola · 17 Giugno 2026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6055" y="8277372"/>
            <a:ext cx="5258836" cy="30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6"/>
              </a:lnSpc>
              <a:spcBef>
                <a:spcPct val="0"/>
              </a:spcBef>
            </a:pPr>
            <a:r>
              <a:rPr lang="en-US" sz="1690" i="1" u="none" strike="noStrike">
                <a:solidFill>
                  <a:srgbClr val="55555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"In data we trust."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954500" y="9791700"/>
            <a:ext cx="952500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40"/>
              </a:lnSpc>
              <a:spcBef>
                <a:spcPct val="0"/>
              </a:spcBef>
            </a:pPr>
            <a:r>
              <a:rPr lang="en-US" sz="1100" u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2108</Words>
  <Application>Microsoft Office PowerPoint</Application>
  <PresentationFormat>Custom</PresentationFormat>
  <Paragraphs>341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Poppins Italics</vt:lpstr>
      <vt:lpstr>Poppins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ppt_cyberevent_imola</dc:title>
  <cp:lastModifiedBy>Teodorina Lungu</cp:lastModifiedBy>
  <cp:revision>7</cp:revision>
  <dcterms:created xsi:type="dcterms:W3CDTF">2006-08-16T00:00:00Z</dcterms:created>
  <dcterms:modified xsi:type="dcterms:W3CDTF">2026-06-16T15:18:52Z</dcterms:modified>
  <dc:identifier>DAHLV8OntDk</dc:identifier>
</cp:coreProperties>
</file>