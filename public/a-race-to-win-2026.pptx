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Poppins" panose="00000500000000000000" pitchFamily="2" charset="0"/>
      <p:regular r:id="rId10"/>
    </p:embeddedFont>
    <p:embeddedFont>
      <p:font typeface="Poppins Bold" panose="00000800000000000000" charset="0"/>
      <p:regular r:id="rId11"/>
    </p:embeddedFont>
    <p:embeddedFont>
      <p:font typeface="Poppins Italics" panose="020B0604020202020204" charset="0"/>
      <p:regular r:id="rId12"/>
    </p:embeddedFont>
    <p:embeddedFont>
      <p:font typeface="Poppins Medium" panose="00000600000000000000" pitchFamily="2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96" y="4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-201708" y="6102928"/>
            <a:ext cx="18489708" cy="2079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00"/>
              </a:lnSpc>
            </a:pPr>
            <a:r>
              <a:rPr lang="en-US" sz="11500" b="1" spc="218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UNA GARA DA VINCERE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043300" y="8066591"/>
            <a:ext cx="7364008" cy="867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802"/>
              </a:lnSpc>
            </a:pPr>
            <a:r>
              <a:rPr lang="en-US" sz="4858" spc="78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CYBERSECURITY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495009" y="971550"/>
            <a:ext cx="4764291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sz="2100" spc="6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5TA EDIZIONE </a:t>
            </a:r>
            <a:r>
              <a:rPr lang="en-US" sz="2100" b="1" spc="6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E4917C-8179-BC03-7370-C35BE49D7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876425"/>
          </a:xfrm>
          <a:custGeom>
            <a:avLst/>
            <a:gdLst/>
            <a:ahLst/>
            <a:cxnLst/>
            <a:rect l="l" t="t" r="r" b="b"/>
            <a:pathLst>
              <a:path w="18288000" h="1876425">
                <a:moveTo>
                  <a:pt x="0" y="0"/>
                </a:moveTo>
                <a:lnTo>
                  <a:pt x="18288000" y="0"/>
                </a:lnTo>
                <a:lnTo>
                  <a:pt x="18288000" y="1876425"/>
                </a:lnTo>
                <a:lnTo>
                  <a:pt x="0" y="18764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9000"/>
            </a:blip>
            <a:stretch>
              <a:fillRect t="-59916" b="-508140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AutoShape 3"/>
          <p:cNvSpPr/>
          <p:nvPr/>
        </p:nvSpPr>
        <p:spPr>
          <a:xfrm>
            <a:off x="1524000" y="829469"/>
            <a:ext cx="15240000" cy="0"/>
          </a:xfrm>
          <a:prstGeom prst="line">
            <a:avLst/>
          </a:prstGeom>
          <a:ln w="19050" cap="flat">
            <a:solidFill>
              <a:srgbClr val="8A8A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4" name="AutoShape 4"/>
          <p:cNvSpPr/>
          <p:nvPr/>
        </p:nvSpPr>
        <p:spPr>
          <a:xfrm>
            <a:off x="714375" y="2373815"/>
            <a:ext cx="16764000" cy="0"/>
          </a:xfrm>
          <a:prstGeom prst="line">
            <a:avLst/>
          </a:prstGeom>
          <a:ln w="952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5" name="TextBox 5"/>
          <p:cNvSpPr txBox="1"/>
          <p:nvPr/>
        </p:nvSpPr>
        <p:spPr>
          <a:xfrm>
            <a:off x="1015701" y="2921503"/>
            <a:ext cx="8604549" cy="1135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865"/>
              </a:lnSpc>
              <a:spcBef>
                <a:spcPct val="0"/>
              </a:spcBef>
            </a:pPr>
            <a:r>
              <a:rPr lang="en-US" sz="6332" u="none" strike="noStrike">
                <a:solidFill>
                  <a:srgbClr val="E8E8E8"/>
                </a:solidFill>
                <a:latin typeface="Poppins"/>
                <a:ea typeface="Poppins"/>
                <a:cs typeface="Poppins"/>
                <a:sym typeface="Poppins"/>
              </a:rPr>
              <a:t>V I B E   C O D I N 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15701" y="4114394"/>
            <a:ext cx="8119533" cy="443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09"/>
              </a:lnSpc>
              <a:spcBef>
                <a:spcPct val="0"/>
              </a:spcBef>
            </a:pPr>
            <a:r>
              <a:rPr lang="en-US" sz="2435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Il prompt è la nuova sintassi.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15701" y="4867413"/>
            <a:ext cx="8119533" cy="11421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7"/>
              </a:lnSpc>
              <a:spcBef>
                <a:spcPct val="0"/>
              </a:spcBef>
            </a:pPr>
            <a:r>
              <a:rPr lang="en-US" sz="189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Descrivi in linguaggio umano.</a:t>
            </a:r>
          </a:p>
          <a:p>
            <a:pPr marL="0" lvl="0" indent="0" algn="l">
              <a:lnSpc>
                <a:spcPts val="3027"/>
              </a:lnSpc>
              <a:spcBef>
                <a:spcPct val="0"/>
              </a:spcBef>
            </a:pPr>
            <a:r>
              <a:rPr lang="en-US" sz="189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L'AI scrive il codice.</a:t>
            </a:r>
          </a:p>
          <a:p>
            <a:pPr marL="0" lvl="0" indent="0" algn="l">
              <a:lnSpc>
                <a:spcPts val="3027"/>
              </a:lnSpc>
              <a:spcBef>
                <a:spcPct val="0"/>
              </a:spcBef>
            </a:pPr>
            <a:r>
              <a:rPr lang="en-US" sz="1892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Tu revisioni, migliori, pubblichi.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15701" y="6620521"/>
            <a:ext cx="8604549" cy="2319867"/>
            <a:chOff x="0" y="0"/>
            <a:chExt cx="9421039" cy="254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21040" cy="2540000"/>
            </a:xfrm>
            <a:custGeom>
              <a:avLst/>
              <a:gdLst/>
              <a:ahLst/>
              <a:cxnLst/>
              <a:rect l="l" t="t" r="r" b="b"/>
              <a:pathLst>
                <a:path w="9421040" h="2540000">
                  <a:moveTo>
                    <a:pt x="229781" y="0"/>
                  </a:moveTo>
                  <a:lnTo>
                    <a:pt x="9191258" y="0"/>
                  </a:lnTo>
                  <a:cubicBezTo>
                    <a:pt x="9318163" y="0"/>
                    <a:pt x="9421040" y="113720"/>
                    <a:pt x="9421040" y="254000"/>
                  </a:cubicBezTo>
                  <a:lnTo>
                    <a:pt x="9421040" y="2286000"/>
                  </a:lnTo>
                  <a:cubicBezTo>
                    <a:pt x="9421040" y="2426280"/>
                    <a:pt x="9318163" y="2540000"/>
                    <a:pt x="9191258" y="2540000"/>
                  </a:cubicBezTo>
                  <a:lnTo>
                    <a:pt x="229781" y="2540000"/>
                  </a:lnTo>
                  <a:cubicBezTo>
                    <a:pt x="102877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02877" y="0"/>
                    <a:pt x="22978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9000"/>
                  </a:srgbClr>
                </a:gs>
                <a:gs pos="100000">
                  <a:srgbClr val="555555">
                    <a:alpha val="19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1882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9421039" cy="2578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79674" y="6873251"/>
            <a:ext cx="6591383" cy="930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3"/>
              </a:lnSpc>
              <a:spcBef>
                <a:spcPct val="0"/>
              </a:spcBef>
            </a:pPr>
            <a:r>
              <a:rPr lang="en-US" sz="2435" i="1" u="none" strike="noStrike">
                <a:solidFill>
                  <a:srgbClr val="E0E0E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« Lasciati andare ai vibe, dimentica</a:t>
            </a:r>
          </a:p>
          <a:p>
            <a:pPr marL="0" lvl="0" indent="0" algn="l">
              <a:lnSpc>
                <a:spcPts val="3653"/>
              </a:lnSpc>
              <a:spcBef>
                <a:spcPct val="0"/>
              </a:spcBef>
            </a:pPr>
            <a:r>
              <a:rPr lang="en-US" sz="2435" i="1" u="none" strike="noStrike">
                <a:solidFill>
                  <a:srgbClr val="E0E0E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  che il codice esiste. »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79674" y="7955291"/>
            <a:ext cx="6959600" cy="617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86"/>
              </a:lnSpc>
              <a:spcBef>
                <a:spcPct val="0"/>
              </a:spcBef>
            </a:pPr>
            <a:r>
              <a:rPr lang="en-US" sz="1704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— Andrej Karpathy, Febbraio 2025</a:t>
            </a:r>
          </a:p>
          <a:p>
            <a:pPr marL="0" lvl="0" indent="0" algn="l">
              <a:lnSpc>
                <a:spcPts val="2386"/>
              </a:lnSpc>
              <a:spcBef>
                <a:spcPct val="0"/>
              </a:spcBef>
            </a:pPr>
            <a:r>
              <a:rPr lang="en-US" sz="1704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 ex OpenAI · ex Tesla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0763250" y="3202242"/>
            <a:ext cx="6818625" cy="1303561"/>
            <a:chOff x="0" y="0"/>
            <a:chExt cx="8636000" cy="1651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636000" cy="1651000"/>
            </a:xfrm>
            <a:custGeom>
              <a:avLst/>
              <a:gdLst/>
              <a:ahLst/>
              <a:cxnLst/>
              <a:rect l="l" t="t" r="r" b="b"/>
              <a:pathLst>
                <a:path w="8636000" h="1651000">
                  <a:moveTo>
                    <a:pt x="165100" y="0"/>
                  </a:moveTo>
                  <a:lnTo>
                    <a:pt x="8470900" y="0"/>
                  </a:lnTo>
                  <a:cubicBezTo>
                    <a:pt x="8562082" y="0"/>
                    <a:pt x="8636000" y="73918"/>
                    <a:pt x="8636000" y="165100"/>
                  </a:cubicBezTo>
                  <a:lnTo>
                    <a:pt x="8636000" y="1485900"/>
                  </a:lnTo>
                  <a:cubicBezTo>
                    <a:pt x="8636000" y="1577082"/>
                    <a:pt x="8562082" y="1651000"/>
                    <a:pt x="8470900" y="1651000"/>
                  </a:cubicBezTo>
                  <a:lnTo>
                    <a:pt x="165100" y="1651000"/>
                  </a:lnTo>
                  <a:cubicBezTo>
                    <a:pt x="73918" y="1651000"/>
                    <a:pt x="0" y="1577082"/>
                    <a:pt x="0" y="1485900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9000"/>
                  </a:srgbClr>
                </a:gs>
                <a:gs pos="100000">
                  <a:srgbClr val="555555">
                    <a:alpha val="29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28627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8636000" cy="168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1064072" y="3448928"/>
            <a:ext cx="601643" cy="689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05"/>
              </a:lnSpc>
              <a:spcBef>
                <a:spcPct val="0"/>
              </a:spcBef>
            </a:pPr>
            <a:r>
              <a:rPr lang="en-US" sz="378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65989" y="3315557"/>
            <a:ext cx="5013695" cy="409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316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DESCRIVI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765989" y="3795867"/>
            <a:ext cx="5013695" cy="261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63"/>
              </a:lnSpc>
              <a:spcBef>
                <a:spcPct val="0"/>
              </a:spcBef>
            </a:pPr>
            <a:r>
              <a:rPr lang="en-US" sz="1473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in linguaggio umano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763250" y="4686296"/>
            <a:ext cx="6818625" cy="1303561"/>
            <a:chOff x="0" y="0"/>
            <a:chExt cx="8636000" cy="1651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636000" cy="1651000"/>
            </a:xfrm>
            <a:custGeom>
              <a:avLst/>
              <a:gdLst/>
              <a:ahLst/>
              <a:cxnLst/>
              <a:rect l="l" t="t" r="r" b="b"/>
              <a:pathLst>
                <a:path w="8636000" h="1651000">
                  <a:moveTo>
                    <a:pt x="165100" y="0"/>
                  </a:moveTo>
                  <a:lnTo>
                    <a:pt x="8470900" y="0"/>
                  </a:lnTo>
                  <a:cubicBezTo>
                    <a:pt x="8562082" y="0"/>
                    <a:pt x="8636000" y="73918"/>
                    <a:pt x="8636000" y="165100"/>
                  </a:cubicBezTo>
                  <a:lnTo>
                    <a:pt x="8636000" y="1485900"/>
                  </a:lnTo>
                  <a:cubicBezTo>
                    <a:pt x="8636000" y="1577082"/>
                    <a:pt x="8562082" y="1651000"/>
                    <a:pt x="8470900" y="1651000"/>
                  </a:cubicBezTo>
                  <a:lnTo>
                    <a:pt x="165100" y="1651000"/>
                  </a:lnTo>
                  <a:cubicBezTo>
                    <a:pt x="73918" y="1651000"/>
                    <a:pt x="0" y="1577082"/>
                    <a:pt x="0" y="1485900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21000"/>
                  </a:srgbClr>
                </a:gs>
                <a:gs pos="100000">
                  <a:srgbClr val="555555">
                    <a:alpha val="21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20784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8636000" cy="168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1064072" y="4932982"/>
            <a:ext cx="601643" cy="689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05"/>
              </a:lnSpc>
              <a:spcBef>
                <a:spcPct val="0"/>
              </a:spcBef>
            </a:pPr>
            <a:r>
              <a:rPr lang="en-US" sz="378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765989" y="4799611"/>
            <a:ext cx="5013695" cy="409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316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AI COSTRUISCE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765989" y="5279921"/>
            <a:ext cx="5013695" cy="261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63"/>
              </a:lnSpc>
              <a:spcBef>
                <a:spcPct val="0"/>
              </a:spcBef>
            </a:pPr>
            <a:r>
              <a:rPr lang="en-US" sz="1473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scrive il codice per te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0763250" y="6170349"/>
            <a:ext cx="6818625" cy="1303561"/>
            <a:chOff x="0" y="0"/>
            <a:chExt cx="8636000" cy="1651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636000" cy="1651000"/>
            </a:xfrm>
            <a:custGeom>
              <a:avLst/>
              <a:gdLst/>
              <a:ahLst/>
              <a:cxnLst/>
              <a:rect l="l" t="t" r="r" b="b"/>
              <a:pathLst>
                <a:path w="8636000" h="1651000">
                  <a:moveTo>
                    <a:pt x="165100" y="0"/>
                  </a:moveTo>
                  <a:lnTo>
                    <a:pt x="8470900" y="0"/>
                  </a:lnTo>
                  <a:cubicBezTo>
                    <a:pt x="8562082" y="0"/>
                    <a:pt x="8636000" y="73918"/>
                    <a:pt x="8636000" y="165100"/>
                  </a:cubicBezTo>
                  <a:lnTo>
                    <a:pt x="8636000" y="1485900"/>
                  </a:lnTo>
                  <a:cubicBezTo>
                    <a:pt x="8636000" y="1577082"/>
                    <a:pt x="8562082" y="1651000"/>
                    <a:pt x="8470900" y="1651000"/>
                  </a:cubicBezTo>
                  <a:lnTo>
                    <a:pt x="165100" y="1651000"/>
                  </a:lnTo>
                  <a:cubicBezTo>
                    <a:pt x="73918" y="1651000"/>
                    <a:pt x="0" y="1577082"/>
                    <a:pt x="0" y="1485900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6000"/>
                  </a:srgbClr>
                </a:gs>
                <a:gs pos="100000">
                  <a:srgbClr val="555555">
                    <a:alpha val="16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568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8636000" cy="168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064072" y="6417035"/>
            <a:ext cx="601643" cy="689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05"/>
              </a:lnSpc>
              <a:spcBef>
                <a:spcPct val="0"/>
              </a:spcBef>
            </a:pPr>
            <a:r>
              <a:rPr lang="en-US" sz="378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765989" y="6283665"/>
            <a:ext cx="5013695" cy="409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316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REVISIONI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765989" y="6763975"/>
            <a:ext cx="5013695" cy="261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63"/>
              </a:lnSpc>
              <a:spcBef>
                <a:spcPct val="0"/>
              </a:spcBef>
            </a:pPr>
            <a:r>
              <a:rPr lang="en-US" sz="1473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iteri e migliori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763250" y="7654403"/>
            <a:ext cx="6818625" cy="1303561"/>
            <a:chOff x="0" y="0"/>
            <a:chExt cx="8636000" cy="16510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636000" cy="1651000"/>
            </a:xfrm>
            <a:custGeom>
              <a:avLst/>
              <a:gdLst/>
              <a:ahLst/>
              <a:cxnLst/>
              <a:rect l="l" t="t" r="r" b="b"/>
              <a:pathLst>
                <a:path w="8636000" h="1651000">
                  <a:moveTo>
                    <a:pt x="165100" y="0"/>
                  </a:moveTo>
                  <a:lnTo>
                    <a:pt x="8470900" y="0"/>
                  </a:lnTo>
                  <a:cubicBezTo>
                    <a:pt x="8562082" y="0"/>
                    <a:pt x="8636000" y="73918"/>
                    <a:pt x="8636000" y="165100"/>
                  </a:cubicBezTo>
                  <a:lnTo>
                    <a:pt x="8636000" y="1485900"/>
                  </a:lnTo>
                  <a:cubicBezTo>
                    <a:pt x="8636000" y="1577082"/>
                    <a:pt x="8562082" y="1651000"/>
                    <a:pt x="8470900" y="1651000"/>
                  </a:cubicBezTo>
                  <a:lnTo>
                    <a:pt x="165100" y="1651000"/>
                  </a:lnTo>
                  <a:cubicBezTo>
                    <a:pt x="73918" y="1651000"/>
                    <a:pt x="0" y="1577082"/>
                    <a:pt x="0" y="1485900"/>
                  </a:cubicBezTo>
                  <a:lnTo>
                    <a:pt x="0" y="165100"/>
                  </a:lnTo>
                  <a:cubicBezTo>
                    <a:pt x="0" y="73918"/>
                    <a:pt x="73918" y="0"/>
                    <a:pt x="1651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8000"/>
                  </a:srgbClr>
                </a:gs>
                <a:gs pos="100000">
                  <a:srgbClr val="555555">
                    <a:alpha val="1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7647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8636000" cy="168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1064072" y="7896075"/>
            <a:ext cx="1062903" cy="689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305"/>
              </a:lnSpc>
              <a:spcBef>
                <a:spcPct val="0"/>
              </a:spcBef>
            </a:pPr>
            <a:r>
              <a:rPr lang="en-US" sz="3789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765989" y="7767719"/>
            <a:ext cx="5013695" cy="409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42"/>
              </a:lnSpc>
              <a:spcBef>
                <a:spcPct val="0"/>
              </a:spcBef>
            </a:pPr>
            <a:r>
              <a:rPr lang="en-US" sz="2316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PUBBLICHI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765989" y="8248029"/>
            <a:ext cx="5013695" cy="2613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63"/>
              </a:lnSpc>
              <a:spcBef>
                <a:spcPct val="0"/>
              </a:spcBef>
            </a:pPr>
            <a:r>
              <a:rPr lang="en-US" sz="1473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prodotto live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1476375" y="781844"/>
            <a:ext cx="95250" cy="95250"/>
            <a:chOff x="0" y="0"/>
            <a:chExt cx="127000" cy="1270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04775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1956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57250" y="948849"/>
            <a:ext cx="1333500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AI nasce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(Dartmouth)</a:t>
            </a:r>
          </a:p>
        </p:txBody>
      </p:sp>
      <p:grpSp>
        <p:nvGrpSpPr>
          <p:cNvPr id="42" name="Group 42"/>
          <p:cNvGrpSpPr/>
          <p:nvPr/>
        </p:nvGrpSpPr>
        <p:grpSpPr>
          <a:xfrm>
            <a:off x="4010025" y="781844"/>
            <a:ext cx="95250" cy="95250"/>
            <a:chOff x="0" y="0"/>
            <a:chExt cx="127000" cy="1270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358140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2012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390900" y="910749"/>
            <a:ext cx="1333500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Deep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Learning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esplode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6553200" y="781844"/>
            <a:ext cx="95250" cy="95250"/>
            <a:chOff x="0" y="0"/>
            <a:chExt cx="127000" cy="1270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6124575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2017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934075" y="948849"/>
            <a:ext cx="1333500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Transformer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(Google)</a:t>
            </a:r>
          </a:p>
        </p:txBody>
      </p:sp>
      <p:grpSp>
        <p:nvGrpSpPr>
          <p:cNvPr id="52" name="Group 52"/>
          <p:cNvGrpSpPr/>
          <p:nvPr/>
        </p:nvGrpSpPr>
        <p:grpSpPr>
          <a:xfrm>
            <a:off x="9096375" y="781844"/>
            <a:ext cx="95250" cy="95250"/>
            <a:chOff x="0" y="0"/>
            <a:chExt cx="127000" cy="1270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866775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2020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477250" y="948849"/>
            <a:ext cx="1333500" cy="507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GPT-3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(OpenAI)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11630025" y="781844"/>
            <a:ext cx="95250" cy="95250"/>
            <a:chOff x="0" y="0"/>
            <a:chExt cx="127000" cy="12700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1120140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2022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1010900" y="910749"/>
            <a:ext cx="1333500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GitHub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Copilot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lancia</a:t>
            </a:r>
          </a:p>
        </p:txBody>
      </p:sp>
      <p:grpSp>
        <p:nvGrpSpPr>
          <p:cNvPr id="62" name="Group 62"/>
          <p:cNvGrpSpPr/>
          <p:nvPr/>
        </p:nvGrpSpPr>
        <p:grpSpPr>
          <a:xfrm>
            <a:off x="14173200" y="781844"/>
            <a:ext cx="95250" cy="95250"/>
            <a:chOff x="0" y="0"/>
            <a:chExt cx="127000" cy="127000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127000" cy="127000"/>
            </a:xfrm>
            <a:custGeom>
              <a:avLst/>
              <a:gdLst/>
              <a:ahLst/>
              <a:cxnLst/>
              <a:rect l="l" t="t" r="r" b="b"/>
              <a:pathLst>
                <a:path w="127000" h="127000">
                  <a:moveTo>
                    <a:pt x="63500" y="0"/>
                  </a:moveTo>
                  <a:cubicBezTo>
                    <a:pt x="28430" y="0"/>
                    <a:pt x="0" y="28430"/>
                    <a:pt x="0" y="63500"/>
                  </a:cubicBezTo>
                  <a:cubicBezTo>
                    <a:pt x="0" y="98570"/>
                    <a:pt x="28430" y="127000"/>
                    <a:pt x="63500" y="127000"/>
                  </a:cubicBezTo>
                  <a:cubicBezTo>
                    <a:pt x="98570" y="127000"/>
                    <a:pt x="127000" y="98570"/>
                    <a:pt x="127000" y="63500"/>
                  </a:cubicBezTo>
                  <a:cubicBezTo>
                    <a:pt x="127000" y="28430"/>
                    <a:pt x="98570" y="0"/>
                    <a:pt x="63500" y="0"/>
                  </a:cubicBezTo>
                  <a:close/>
                </a:path>
              </a:pathLst>
            </a:custGeom>
            <a:solidFill>
              <a:srgbClr val="C0C0C0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127000" cy="174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13744575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2025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3554075" y="910749"/>
            <a:ext cx="1333500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Vibe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Coding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(Karpathy)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16697325" y="762794"/>
            <a:ext cx="133350" cy="133350"/>
            <a:chOff x="0" y="0"/>
            <a:chExt cx="177800" cy="1778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77800" cy="177800"/>
            </a:xfrm>
            <a:custGeom>
              <a:avLst/>
              <a:gdLst/>
              <a:ahLst/>
              <a:cxnLst/>
              <a:rect l="l" t="t" r="r" b="b"/>
              <a:pathLst>
                <a:path w="177800" h="177800">
                  <a:moveTo>
                    <a:pt x="88900" y="0"/>
                  </a:moveTo>
                  <a:cubicBezTo>
                    <a:pt x="39802" y="0"/>
                    <a:pt x="0" y="39802"/>
                    <a:pt x="0" y="88900"/>
                  </a:cubicBezTo>
                  <a:cubicBezTo>
                    <a:pt x="0" y="137998"/>
                    <a:pt x="39802" y="177800"/>
                    <a:pt x="88900" y="177800"/>
                  </a:cubicBezTo>
                  <a:cubicBezTo>
                    <a:pt x="137998" y="177800"/>
                    <a:pt x="177800" y="137998"/>
                    <a:pt x="177800" y="88900"/>
                  </a:cubicBezTo>
                  <a:cubicBezTo>
                    <a:pt x="177800" y="39802"/>
                    <a:pt x="137998" y="0"/>
                    <a:pt x="889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0" y="-47625"/>
              <a:ext cx="177800" cy="225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239"/>
                </a:lnSpc>
              </a:pPr>
              <a:endParaRPr/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6287750" y="344011"/>
            <a:ext cx="95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2026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6097250" y="825024"/>
            <a:ext cx="1333500" cy="755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E0E0E0"/>
                </a:solidFill>
                <a:latin typeface="Poppins"/>
                <a:ea typeface="Poppins"/>
                <a:cs typeface="Poppins"/>
                <a:sym typeface="Poppins"/>
              </a:rPr>
              <a:t>Conversational</a:t>
            </a:r>
          </a:p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u="none" strike="noStrike">
                <a:solidFill>
                  <a:srgbClr val="E0E0E0"/>
                </a:solidFill>
                <a:latin typeface="Poppins"/>
                <a:ea typeface="Poppins"/>
                <a:cs typeface="Poppins"/>
                <a:sym typeface="Poppins"/>
              </a:rPr>
              <a:t>AI 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430250" y="7584064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Microsoft  25%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430250" y="7222114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Amazon  30%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430250" y="6860164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Google  30%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430250" y="6498214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Meta  50%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29625" y="8079364"/>
            <a:ext cx="571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44%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2571750" y="8088889"/>
            <a:ext cx="2514600" cy="304800"/>
            <a:chOff x="0" y="0"/>
            <a:chExt cx="3352800" cy="406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52800" cy="406400"/>
            </a:xfrm>
            <a:custGeom>
              <a:avLst/>
              <a:gdLst/>
              <a:ahLst/>
              <a:cxnLst/>
              <a:rect l="l" t="t" r="r" b="b"/>
              <a:pathLst>
                <a:path w="3352800" h="406400">
                  <a:moveTo>
                    <a:pt x="40640" y="0"/>
                  </a:moveTo>
                  <a:lnTo>
                    <a:pt x="3312160" y="0"/>
                  </a:lnTo>
                  <a:cubicBezTo>
                    <a:pt x="3322938" y="0"/>
                    <a:pt x="3333275" y="4282"/>
                    <a:pt x="3340897" y="11903"/>
                  </a:cubicBezTo>
                  <a:cubicBezTo>
                    <a:pt x="3348518" y="19525"/>
                    <a:pt x="3352800" y="29862"/>
                    <a:pt x="3352800" y="40640"/>
                  </a:cubicBezTo>
                  <a:lnTo>
                    <a:pt x="3352800" y="365760"/>
                  </a:lnTo>
                  <a:cubicBezTo>
                    <a:pt x="3352800" y="376538"/>
                    <a:pt x="3348518" y="386875"/>
                    <a:pt x="3340897" y="394497"/>
                  </a:cubicBezTo>
                  <a:cubicBezTo>
                    <a:pt x="3333275" y="402118"/>
                    <a:pt x="3322938" y="406400"/>
                    <a:pt x="33121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70000"/>
                  </a:srgbClr>
                </a:gs>
                <a:gs pos="100000">
                  <a:srgbClr val="E8E8E8">
                    <a:alpha val="7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3352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571750" y="8088889"/>
            <a:ext cx="5715000" cy="304800"/>
            <a:chOff x="0" y="0"/>
            <a:chExt cx="7620000" cy="406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620000" cy="406400"/>
            </a:xfrm>
            <a:custGeom>
              <a:avLst/>
              <a:gdLst/>
              <a:ahLst/>
              <a:cxnLst/>
              <a:rect l="l" t="t" r="r" b="b"/>
              <a:pathLst>
                <a:path w="7620000" h="406400">
                  <a:moveTo>
                    <a:pt x="40640" y="0"/>
                  </a:moveTo>
                  <a:lnTo>
                    <a:pt x="7579360" y="0"/>
                  </a:lnTo>
                  <a:cubicBezTo>
                    <a:pt x="7590138" y="0"/>
                    <a:pt x="7600476" y="4282"/>
                    <a:pt x="7608097" y="11903"/>
                  </a:cubicBezTo>
                  <a:cubicBezTo>
                    <a:pt x="7615718" y="19525"/>
                    <a:pt x="7620000" y="29862"/>
                    <a:pt x="7620000" y="40640"/>
                  </a:cubicBezTo>
                  <a:lnTo>
                    <a:pt x="7620000" y="365760"/>
                  </a:lnTo>
                  <a:cubicBezTo>
                    <a:pt x="7620000" y="376538"/>
                    <a:pt x="7615718" y="386875"/>
                    <a:pt x="7608097" y="394497"/>
                  </a:cubicBezTo>
                  <a:cubicBezTo>
                    <a:pt x="7600476" y="402118"/>
                    <a:pt x="7590138" y="406400"/>
                    <a:pt x="75793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5000"/>
                  </a:srgbClr>
                </a:gs>
                <a:gs pos="100000">
                  <a:srgbClr val="555555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762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762000" y="8098414"/>
            <a:ext cx="1714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Apprendimento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29625" y="7603114"/>
            <a:ext cx="571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48%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571750" y="7612639"/>
            <a:ext cx="2743200" cy="304800"/>
            <a:chOff x="0" y="0"/>
            <a:chExt cx="3657600" cy="4064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57600" cy="406400"/>
            </a:xfrm>
            <a:custGeom>
              <a:avLst/>
              <a:gdLst/>
              <a:ahLst/>
              <a:cxnLst/>
              <a:rect l="l" t="t" r="r" b="b"/>
              <a:pathLst>
                <a:path w="3657600" h="406400">
                  <a:moveTo>
                    <a:pt x="40640" y="0"/>
                  </a:moveTo>
                  <a:lnTo>
                    <a:pt x="3616960" y="0"/>
                  </a:lnTo>
                  <a:cubicBezTo>
                    <a:pt x="3627738" y="0"/>
                    <a:pt x="3638075" y="4282"/>
                    <a:pt x="3645697" y="11903"/>
                  </a:cubicBezTo>
                  <a:cubicBezTo>
                    <a:pt x="3653318" y="19525"/>
                    <a:pt x="3657600" y="29862"/>
                    <a:pt x="3657600" y="40640"/>
                  </a:cubicBezTo>
                  <a:lnTo>
                    <a:pt x="3657600" y="365760"/>
                  </a:lnTo>
                  <a:cubicBezTo>
                    <a:pt x="3657600" y="376538"/>
                    <a:pt x="3653318" y="386875"/>
                    <a:pt x="3645697" y="394497"/>
                  </a:cubicBezTo>
                  <a:cubicBezTo>
                    <a:pt x="3638075" y="402118"/>
                    <a:pt x="3627738" y="406400"/>
                    <a:pt x="36169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70000"/>
                  </a:srgbClr>
                </a:gs>
                <a:gs pos="100000">
                  <a:srgbClr val="E8E8E8">
                    <a:alpha val="7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36576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2571750" y="7612639"/>
            <a:ext cx="5715000" cy="304800"/>
            <a:chOff x="0" y="0"/>
            <a:chExt cx="7620000" cy="406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620000" cy="406400"/>
            </a:xfrm>
            <a:custGeom>
              <a:avLst/>
              <a:gdLst/>
              <a:ahLst/>
              <a:cxnLst/>
              <a:rect l="l" t="t" r="r" b="b"/>
              <a:pathLst>
                <a:path w="7620000" h="406400">
                  <a:moveTo>
                    <a:pt x="40640" y="0"/>
                  </a:moveTo>
                  <a:lnTo>
                    <a:pt x="7579360" y="0"/>
                  </a:lnTo>
                  <a:cubicBezTo>
                    <a:pt x="7590138" y="0"/>
                    <a:pt x="7600476" y="4282"/>
                    <a:pt x="7608097" y="11903"/>
                  </a:cubicBezTo>
                  <a:cubicBezTo>
                    <a:pt x="7615718" y="19525"/>
                    <a:pt x="7620000" y="29862"/>
                    <a:pt x="7620000" y="40640"/>
                  </a:cubicBezTo>
                  <a:lnTo>
                    <a:pt x="7620000" y="365760"/>
                  </a:lnTo>
                  <a:cubicBezTo>
                    <a:pt x="7620000" y="376538"/>
                    <a:pt x="7615718" y="386875"/>
                    <a:pt x="7608097" y="394497"/>
                  </a:cubicBezTo>
                  <a:cubicBezTo>
                    <a:pt x="7600476" y="402118"/>
                    <a:pt x="7590138" y="406400"/>
                    <a:pt x="75793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5000"/>
                  </a:srgbClr>
                </a:gs>
                <a:gs pos="100000">
                  <a:srgbClr val="555555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762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62000" y="7622164"/>
            <a:ext cx="1714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Code review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429625" y="7126864"/>
            <a:ext cx="571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51%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2571750" y="7136389"/>
            <a:ext cx="2914650" cy="304800"/>
            <a:chOff x="0" y="0"/>
            <a:chExt cx="3886200" cy="406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886200" cy="406400"/>
            </a:xfrm>
            <a:custGeom>
              <a:avLst/>
              <a:gdLst/>
              <a:ahLst/>
              <a:cxnLst/>
              <a:rect l="l" t="t" r="r" b="b"/>
              <a:pathLst>
                <a:path w="3886200" h="406400">
                  <a:moveTo>
                    <a:pt x="40640" y="0"/>
                  </a:moveTo>
                  <a:lnTo>
                    <a:pt x="3845560" y="0"/>
                  </a:lnTo>
                  <a:cubicBezTo>
                    <a:pt x="3856338" y="0"/>
                    <a:pt x="3866675" y="4282"/>
                    <a:pt x="3874297" y="11903"/>
                  </a:cubicBezTo>
                  <a:cubicBezTo>
                    <a:pt x="3881918" y="19525"/>
                    <a:pt x="3886200" y="29862"/>
                    <a:pt x="3886200" y="40640"/>
                  </a:cubicBezTo>
                  <a:lnTo>
                    <a:pt x="3886200" y="365760"/>
                  </a:lnTo>
                  <a:cubicBezTo>
                    <a:pt x="3886200" y="376538"/>
                    <a:pt x="3881918" y="386875"/>
                    <a:pt x="3874297" y="394497"/>
                  </a:cubicBezTo>
                  <a:cubicBezTo>
                    <a:pt x="3866675" y="402118"/>
                    <a:pt x="3856338" y="406400"/>
                    <a:pt x="38455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70000"/>
                  </a:srgbClr>
                </a:gs>
                <a:gs pos="100000">
                  <a:srgbClr val="E8E8E8">
                    <a:alpha val="7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38862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2571750" y="7136389"/>
            <a:ext cx="5715000" cy="304800"/>
            <a:chOff x="0" y="0"/>
            <a:chExt cx="7620000" cy="4064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620000" cy="406400"/>
            </a:xfrm>
            <a:custGeom>
              <a:avLst/>
              <a:gdLst/>
              <a:ahLst/>
              <a:cxnLst/>
              <a:rect l="l" t="t" r="r" b="b"/>
              <a:pathLst>
                <a:path w="7620000" h="406400">
                  <a:moveTo>
                    <a:pt x="40640" y="0"/>
                  </a:moveTo>
                  <a:lnTo>
                    <a:pt x="7579360" y="0"/>
                  </a:lnTo>
                  <a:cubicBezTo>
                    <a:pt x="7590138" y="0"/>
                    <a:pt x="7600476" y="4282"/>
                    <a:pt x="7608097" y="11903"/>
                  </a:cubicBezTo>
                  <a:cubicBezTo>
                    <a:pt x="7615718" y="19525"/>
                    <a:pt x="7620000" y="29862"/>
                    <a:pt x="7620000" y="40640"/>
                  </a:cubicBezTo>
                  <a:lnTo>
                    <a:pt x="7620000" y="365760"/>
                  </a:lnTo>
                  <a:cubicBezTo>
                    <a:pt x="7620000" y="376538"/>
                    <a:pt x="7615718" y="386875"/>
                    <a:pt x="7608097" y="394497"/>
                  </a:cubicBezTo>
                  <a:cubicBezTo>
                    <a:pt x="7600476" y="402118"/>
                    <a:pt x="7590138" y="406400"/>
                    <a:pt x="75793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5000"/>
                  </a:srgbClr>
                </a:gs>
                <a:gs pos="100000">
                  <a:srgbClr val="555555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762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62000" y="7145914"/>
            <a:ext cx="1714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Testing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429625" y="6650614"/>
            <a:ext cx="571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63%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2571750" y="6660139"/>
            <a:ext cx="3600450" cy="304800"/>
            <a:chOff x="0" y="0"/>
            <a:chExt cx="4800600" cy="406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800600" cy="406400"/>
            </a:xfrm>
            <a:custGeom>
              <a:avLst/>
              <a:gdLst/>
              <a:ahLst/>
              <a:cxnLst/>
              <a:rect l="l" t="t" r="r" b="b"/>
              <a:pathLst>
                <a:path w="4800600" h="406400">
                  <a:moveTo>
                    <a:pt x="40640" y="0"/>
                  </a:moveTo>
                  <a:lnTo>
                    <a:pt x="4759960" y="0"/>
                  </a:lnTo>
                  <a:cubicBezTo>
                    <a:pt x="4770738" y="0"/>
                    <a:pt x="4781075" y="4282"/>
                    <a:pt x="4788697" y="11903"/>
                  </a:cubicBezTo>
                  <a:cubicBezTo>
                    <a:pt x="4796318" y="19525"/>
                    <a:pt x="4800600" y="29862"/>
                    <a:pt x="4800600" y="40640"/>
                  </a:cubicBezTo>
                  <a:lnTo>
                    <a:pt x="4800600" y="365760"/>
                  </a:lnTo>
                  <a:cubicBezTo>
                    <a:pt x="4800600" y="376538"/>
                    <a:pt x="4796318" y="386875"/>
                    <a:pt x="4788697" y="394497"/>
                  </a:cubicBezTo>
                  <a:cubicBezTo>
                    <a:pt x="4781075" y="402118"/>
                    <a:pt x="4770738" y="406400"/>
                    <a:pt x="47599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70000"/>
                  </a:srgbClr>
                </a:gs>
                <a:gs pos="100000">
                  <a:srgbClr val="E8E8E8">
                    <a:alpha val="7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48006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2571750" y="6660139"/>
            <a:ext cx="5715000" cy="304800"/>
            <a:chOff x="0" y="0"/>
            <a:chExt cx="7620000" cy="406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7620000" cy="406400"/>
            </a:xfrm>
            <a:custGeom>
              <a:avLst/>
              <a:gdLst/>
              <a:ahLst/>
              <a:cxnLst/>
              <a:rect l="l" t="t" r="r" b="b"/>
              <a:pathLst>
                <a:path w="7620000" h="406400">
                  <a:moveTo>
                    <a:pt x="40640" y="0"/>
                  </a:moveTo>
                  <a:lnTo>
                    <a:pt x="7579360" y="0"/>
                  </a:lnTo>
                  <a:cubicBezTo>
                    <a:pt x="7590138" y="0"/>
                    <a:pt x="7600476" y="4282"/>
                    <a:pt x="7608097" y="11903"/>
                  </a:cubicBezTo>
                  <a:cubicBezTo>
                    <a:pt x="7615718" y="19525"/>
                    <a:pt x="7620000" y="29862"/>
                    <a:pt x="7620000" y="40640"/>
                  </a:cubicBezTo>
                  <a:lnTo>
                    <a:pt x="7620000" y="365760"/>
                  </a:lnTo>
                  <a:cubicBezTo>
                    <a:pt x="7620000" y="376538"/>
                    <a:pt x="7615718" y="386875"/>
                    <a:pt x="7608097" y="394497"/>
                  </a:cubicBezTo>
                  <a:cubicBezTo>
                    <a:pt x="7600476" y="402118"/>
                    <a:pt x="7590138" y="406400"/>
                    <a:pt x="75793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5000"/>
                  </a:srgbClr>
                </a:gs>
                <a:gs pos="100000">
                  <a:srgbClr val="555555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38100"/>
              <a:ext cx="762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62000" y="6669664"/>
            <a:ext cx="1714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Documentazione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429625" y="6174364"/>
            <a:ext cx="571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74%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2571750" y="6183889"/>
            <a:ext cx="4229100" cy="304800"/>
            <a:chOff x="0" y="0"/>
            <a:chExt cx="5638800" cy="4064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5638800" cy="406400"/>
            </a:xfrm>
            <a:custGeom>
              <a:avLst/>
              <a:gdLst/>
              <a:ahLst/>
              <a:cxnLst/>
              <a:rect l="l" t="t" r="r" b="b"/>
              <a:pathLst>
                <a:path w="5638800" h="406400">
                  <a:moveTo>
                    <a:pt x="40640" y="0"/>
                  </a:moveTo>
                  <a:lnTo>
                    <a:pt x="5598160" y="0"/>
                  </a:lnTo>
                  <a:cubicBezTo>
                    <a:pt x="5608938" y="0"/>
                    <a:pt x="5619275" y="4282"/>
                    <a:pt x="5626897" y="11903"/>
                  </a:cubicBezTo>
                  <a:cubicBezTo>
                    <a:pt x="5634518" y="19525"/>
                    <a:pt x="5638800" y="29862"/>
                    <a:pt x="5638800" y="40640"/>
                  </a:cubicBezTo>
                  <a:lnTo>
                    <a:pt x="5638800" y="365760"/>
                  </a:lnTo>
                  <a:cubicBezTo>
                    <a:pt x="5638800" y="376538"/>
                    <a:pt x="5634518" y="386875"/>
                    <a:pt x="5626897" y="394497"/>
                  </a:cubicBezTo>
                  <a:cubicBezTo>
                    <a:pt x="5619275" y="402118"/>
                    <a:pt x="5608938" y="406400"/>
                    <a:pt x="55981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70000"/>
                  </a:srgbClr>
                </a:gs>
                <a:gs pos="100000">
                  <a:srgbClr val="E8E8E8">
                    <a:alpha val="7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56388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2571750" y="6183889"/>
            <a:ext cx="5715000" cy="304800"/>
            <a:chOff x="0" y="0"/>
            <a:chExt cx="7620000" cy="4064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7620000" cy="406400"/>
            </a:xfrm>
            <a:custGeom>
              <a:avLst/>
              <a:gdLst/>
              <a:ahLst/>
              <a:cxnLst/>
              <a:rect l="l" t="t" r="r" b="b"/>
              <a:pathLst>
                <a:path w="7620000" h="406400">
                  <a:moveTo>
                    <a:pt x="40640" y="0"/>
                  </a:moveTo>
                  <a:lnTo>
                    <a:pt x="7579360" y="0"/>
                  </a:lnTo>
                  <a:cubicBezTo>
                    <a:pt x="7590138" y="0"/>
                    <a:pt x="7600476" y="4282"/>
                    <a:pt x="7608097" y="11903"/>
                  </a:cubicBezTo>
                  <a:cubicBezTo>
                    <a:pt x="7615718" y="19525"/>
                    <a:pt x="7620000" y="29862"/>
                    <a:pt x="7620000" y="40640"/>
                  </a:cubicBezTo>
                  <a:lnTo>
                    <a:pt x="7620000" y="365760"/>
                  </a:lnTo>
                  <a:cubicBezTo>
                    <a:pt x="7620000" y="376538"/>
                    <a:pt x="7615718" y="386875"/>
                    <a:pt x="7608097" y="394497"/>
                  </a:cubicBezTo>
                  <a:cubicBezTo>
                    <a:pt x="7600476" y="402118"/>
                    <a:pt x="7590138" y="406400"/>
                    <a:pt x="75793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5000"/>
                  </a:srgbClr>
                </a:gs>
                <a:gs pos="100000">
                  <a:srgbClr val="555555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38100"/>
              <a:ext cx="762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62000" y="6193414"/>
            <a:ext cx="1714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Debug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429625" y="5698114"/>
            <a:ext cx="571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82%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2571750" y="5707639"/>
            <a:ext cx="4686300" cy="304800"/>
            <a:chOff x="0" y="0"/>
            <a:chExt cx="6248400" cy="406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6248400" cy="406400"/>
            </a:xfrm>
            <a:custGeom>
              <a:avLst/>
              <a:gdLst/>
              <a:ahLst/>
              <a:cxnLst/>
              <a:rect l="l" t="t" r="r" b="b"/>
              <a:pathLst>
                <a:path w="6248400" h="406400">
                  <a:moveTo>
                    <a:pt x="40640" y="0"/>
                  </a:moveTo>
                  <a:lnTo>
                    <a:pt x="6207760" y="0"/>
                  </a:lnTo>
                  <a:cubicBezTo>
                    <a:pt x="6218538" y="0"/>
                    <a:pt x="6228875" y="4282"/>
                    <a:pt x="6236497" y="11903"/>
                  </a:cubicBezTo>
                  <a:cubicBezTo>
                    <a:pt x="6244118" y="19525"/>
                    <a:pt x="6248400" y="29862"/>
                    <a:pt x="6248400" y="40640"/>
                  </a:cubicBezTo>
                  <a:lnTo>
                    <a:pt x="6248400" y="365760"/>
                  </a:lnTo>
                  <a:cubicBezTo>
                    <a:pt x="6248400" y="376538"/>
                    <a:pt x="6244118" y="386875"/>
                    <a:pt x="6236497" y="394497"/>
                  </a:cubicBezTo>
                  <a:cubicBezTo>
                    <a:pt x="6228875" y="402118"/>
                    <a:pt x="6218538" y="406400"/>
                    <a:pt x="62077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88888">
                    <a:alpha val="70000"/>
                  </a:srgbClr>
                </a:gs>
                <a:gs pos="100000">
                  <a:srgbClr val="E8E8E8">
                    <a:alpha val="7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38100"/>
              <a:ext cx="6248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2571750" y="5707639"/>
            <a:ext cx="5715000" cy="304800"/>
            <a:chOff x="0" y="0"/>
            <a:chExt cx="7620000" cy="4064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7620000" cy="406400"/>
            </a:xfrm>
            <a:custGeom>
              <a:avLst/>
              <a:gdLst/>
              <a:ahLst/>
              <a:cxnLst/>
              <a:rect l="l" t="t" r="r" b="b"/>
              <a:pathLst>
                <a:path w="7620000" h="406400">
                  <a:moveTo>
                    <a:pt x="40640" y="0"/>
                  </a:moveTo>
                  <a:lnTo>
                    <a:pt x="7579360" y="0"/>
                  </a:lnTo>
                  <a:cubicBezTo>
                    <a:pt x="7590138" y="0"/>
                    <a:pt x="7600476" y="4282"/>
                    <a:pt x="7608097" y="11903"/>
                  </a:cubicBezTo>
                  <a:cubicBezTo>
                    <a:pt x="7615718" y="19525"/>
                    <a:pt x="7620000" y="29862"/>
                    <a:pt x="7620000" y="40640"/>
                  </a:cubicBezTo>
                  <a:lnTo>
                    <a:pt x="7620000" y="365760"/>
                  </a:lnTo>
                  <a:cubicBezTo>
                    <a:pt x="7620000" y="376538"/>
                    <a:pt x="7615718" y="386875"/>
                    <a:pt x="7608097" y="394497"/>
                  </a:cubicBezTo>
                  <a:cubicBezTo>
                    <a:pt x="7600476" y="402118"/>
                    <a:pt x="7590138" y="406400"/>
                    <a:pt x="7579360" y="406400"/>
                  </a:cubicBezTo>
                  <a:lnTo>
                    <a:pt x="40640" y="406400"/>
                  </a:lnTo>
                  <a:cubicBezTo>
                    <a:pt x="29862" y="406400"/>
                    <a:pt x="19525" y="402118"/>
                    <a:pt x="11903" y="394497"/>
                  </a:cubicBezTo>
                  <a:cubicBezTo>
                    <a:pt x="4282" y="386875"/>
                    <a:pt x="0" y="376538"/>
                    <a:pt x="0" y="365760"/>
                  </a:cubicBezTo>
                  <a:lnTo>
                    <a:pt x="0" y="40640"/>
                  </a:lnTo>
                  <a:cubicBezTo>
                    <a:pt x="0" y="18195"/>
                    <a:pt x="18195" y="0"/>
                    <a:pt x="4064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5000"/>
                  </a:srgbClr>
                </a:gs>
                <a:gs pos="100000">
                  <a:srgbClr val="555555">
                    <a:alpha val="15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76200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13411200" y="4393189"/>
            <a:ext cx="371475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Google DORA 2025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3458825" y="3993139"/>
            <a:ext cx="3619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adozione tra professionisti software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3411200" y="3269239"/>
            <a:ext cx="37147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90%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13315950" y="3173989"/>
            <a:ext cx="3905250" cy="1524000"/>
            <a:chOff x="0" y="0"/>
            <a:chExt cx="5207000" cy="203200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207000" cy="2032000"/>
            </a:xfrm>
            <a:custGeom>
              <a:avLst/>
              <a:gdLst/>
              <a:ahLst/>
              <a:cxnLst/>
              <a:rect l="l" t="t" r="r" b="b"/>
              <a:pathLst>
                <a:path w="5207000" h="2032000">
                  <a:moveTo>
                    <a:pt x="203200" y="0"/>
                  </a:moveTo>
                  <a:lnTo>
                    <a:pt x="5003800" y="0"/>
                  </a:lnTo>
                  <a:cubicBezTo>
                    <a:pt x="5116024" y="0"/>
                    <a:pt x="5207000" y="90976"/>
                    <a:pt x="5207000" y="203200"/>
                  </a:cubicBezTo>
                  <a:lnTo>
                    <a:pt x="5207000" y="1828800"/>
                  </a:lnTo>
                  <a:cubicBezTo>
                    <a:pt x="5207000" y="1941024"/>
                    <a:pt x="5116024" y="2032000"/>
                    <a:pt x="5003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38100"/>
              <a:ext cx="52070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9315450" y="4393189"/>
            <a:ext cx="371475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Stack Overflow 2025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9315450" y="3269239"/>
            <a:ext cx="37147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51%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220200" y="3173989"/>
            <a:ext cx="3905250" cy="1524000"/>
            <a:chOff x="0" y="0"/>
            <a:chExt cx="5207000" cy="20320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207000" cy="2032000"/>
            </a:xfrm>
            <a:custGeom>
              <a:avLst/>
              <a:gdLst/>
              <a:ahLst/>
              <a:cxnLst/>
              <a:rect l="l" t="t" r="r" b="b"/>
              <a:pathLst>
                <a:path w="5207000" h="2032000">
                  <a:moveTo>
                    <a:pt x="203200" y="0"/>
                  </a:moveTo>
                  <a:lnTo>
                    <a:pt x="5003800" y="0"/>
                  </a:lnTo>
                  <a:cubicBezTo>
                    <a:pt x="5116024" y="0"/>
                    <a:pt x="5207000" y="90976"/>
                    <a:pt x="5207000" y="203200"/>
                  </a:cubicBezTo>
                  <a:lnTo>
                    <a:pt x="5207000" y="1828800"/>
                  </a:lnTo>
                  <a:cubicBezTo>
                    <a:pt x="5207000" y="1941024"/>
                    <a:pt x="5116024" y="2032000"/>
                    <a:pt x="5003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38100"/>
              <a:ext cx="52070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5219700" y="4393189"/>
            <a:ext cx="371475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GitHub / industry benchmark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5267325" y="3993139"/>
            <a:ext cx="3619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codice AI-generato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5219700" y="3269239"/>
            <a:ext cx="37147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41%</a:t>
            </a:r>
          </a:p>
        </p:txBody>
      </p:sp>
      <p:grpSp>
        <p:nvGrpSpPr>
          <p:cNvPr id="67" name="Group 67"/>
          <p:cNvGrpSpPr/>
          <p:nvPr/>
        </p:nvGrpSpPr>
        <p:grpSpPr>
          <a:xfrm>
            <a:off x="5124450" y="3173989"/>
            <a:ext cx="3905250" cy="1524000"/>
            <a:chOff x="0" y="0"/>
            <a:chExt cx="5207000" cy="2032000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5207000" cy="2032000"/>
            </a:xfrm>
            <a:custGeom>
              <a:avLst/>
              <a:gdLst/>
              <a:ahLst/>
              <a:cxnLst/>
              <a:rect l="l" t="t" r="r" b="b"/>
              <a:pathLst>
                <a:path w="5207000" h="2032000">
                  <a:moveTo>
                    <a:pt x="203200" y="0"/>
                  </a:moveTo>
                  <a:lnTo>
                    <a:pt x="5003800" y="0"/>
                  </a:lnTo>
                  <a:cubicBezTo>
                    <a:pt x="5116024" y="0"/>
                    <a:pt x="5207000" y="90976"/>
                    <a:pt x="5207000" y="203200"/>
                  </a:cubicBezTo>
                  <a:lnTo>
                    <a:pt x="5207000" y="1828800"/>
                  </a:lnTo>
                  <a:cubicBezTo>
                    <a:pt x="5207000" y="1941024"/>
                    <a:pt x="5116024" y="2032000"/>
                    <a:pt x="5003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0" y="-38100"/>
              <a:ext cx="52070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123950" y="4393189"/>
            <a:ext cx="371475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Stack Overflow 2025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71575" y="3993139"/>
            <a:ext cx="3619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sviluppatori usano o pianificano AI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123950" y="3269239"/>
            <a:ext cx="37147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84%</a:t>
            </a:r>
          </a:p>
        </p:txBody>
      </p:sp>
      <p:sp>
        <p:nvSpPr>
          <p:cNvPr id="73" name="Freeform 73"/>
          <p:cNvSpPr/>
          <p:nvPr/>
        </p:nvSpPr>
        <p:spPr>
          <a:xfrm>
            <a:off x="-19050" y="0"/>
            <a:ext cx="18288000" cy="2469139"/>
          </a:xfrm>
          <a:custGeom>
            <a:avLst/>
            <a:gdLst/>
            <a:ahLst/>
            <a:cxnLst/>
            <a:rect l="l" t="t" r="r" b="b"/>
            <a:pathLst>
              <a:path w="18288000" h="2469139">
                <a:moveTo>
                  <a:pt x="0" y="0"/>
                </a:moveTo>
                <a:lnTo>
                  <a:pt x="18288000" y="0"/>
                </a:lnTo>
                <a:lnTo>
                  <a:pt x="18288000" y="2469139"/>
                </a:lnTo>
                <a:lnTo>
                  <a:pt x="0" y="24691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1000"/>
            </a:blip>
            <a:stretch>
              <a:fillRect t="-57790" b="-349900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74" name="TextBox 74"/>
          <p:cNvSpPr txBox="1"/>
          <p:nvPr/>
        </p:nvSpPr>
        <p:spPr>
          <a:xfrm>
            <a:off x="4552950" y="897255"/>
            <a:ext cx="952500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880"/>
              </a:lnSpc>
              <a:spcBef>
                <a:spcPct val="0"/>
              </a:spcBef>
            </a:pPr>
            <a:r>
              <a:rPr lang="en-US" sz="4200" u="none" strike="noStrike">
                <a:solidFill>
                  <a:srgbClr val="E8E8E8"/>
                </a:solidFill>
                <a:latin typeface="Poppins"/>
                <a:ea typeface="Poppins"/>
                <a:cs typeface="Poppins"/>
                <a:sym typeface="Poppins"/>
              </a:rPr>
              <a:t>D A T I   &amp;   A D O Z I O N E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4838700" y="2697739"/>
            <a:ext cx="857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L'adozione corre. La fiducia deve ancora recuperare.</a:t>
            </a:r>
          </a:p>
        </p:txBody>
      </p:sp>
      <p:grpSp>
        <p:nvGrpSpPr>
          <p:cNvPr id="76" name="Group 76"/>
          <p:cNvGrpSpPr/>
          <p:nvPr/>
        </p:nvGrpSpPr>
        <p:grpSpPr>
          <a:xfrm>
            <a:off x="1028700" y="3173989"/>
            <a:ext cx="3905250" cy="1524000"/>
            <a:chOff x="0" y="0"/>
            <a:chExt cx="5207000" cy="20320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5207000" cy="2032000"/>
            </a:xfrm>
            <a:custGeom>
              <a:avLst/>
              <a:gdLst/>
              <a:ahLst/>
              <a:cxnLst/>
              <a:rect l="l" t="t" r="r" b="b"/>
              <a:pathLst>
                <a:path w="5207000" h="2032000">
                  <a:moveTo>
                    <a:pt x="203200" y="0"/>
                  </a:moveTo>
                  <a:lnTo>
                    <a:pt x="5003800" y="0"/>
                  </a:lnTo>
                  <a:cubicBezTo>
                    <a:pt x="5116024" y="0"/>
                    <a:pt x="5207000" y="90976"/>
                    <a:pt x="5207000" y="203200"/>
                  </a:cubicBezTo>
                  <a:lnTo>
                    <a:pt x="5207000" y="1828800"/>
                  </a:lnTo>
                  <a:cubicBezTo>
                    <a:pt x="5207000" y="1941024"/>
                    <a:pt x="5116024" y="2032000"/>
                    <a:pt x="5003800" y="2032000"/>
                  </a:cubicBezTo>
                  <a:lnTo>
                    <a:pt x="203200" y="2032000"/>
                  </a:lnTo>
                  <a:cubicBezTo>
                    <a:pt x="90976" y="2032000"/>
                    <a:pt x="0" y="1941024"/>
                    <a:pt x="0" y="1828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38100"/>
              <a:ext cx="5207000" cy="207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9" name="TextBox 79"/>
          <p:cNvSpPr txBox="1"/>
          <p:nvPr/>
        </p:nvSpPr>
        <p:spPr>
          <a:xfrm>
            <a:off x="9363075" y="3993139"/>
            <a:ext cx="3619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uso AI quotidiano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762000" y="5174239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Utilizzo AI per categoria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762000" y="5717164"/>
            <a:ext cx="1714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AAAAAA"/>
                </a:solidFill>
                <a:latin typeface="Poppins"/>
                <a:ea typeface="Poppins"/>
                <a:cs typeface="Poppins"/>
                <a:sym typeface="Poppins"/>
              </a:rPr>
              <a:t>Scrittura codice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10096500" y="5174239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% codice AI-generato · Big Tech</a:t>
            </a:r>
          </a:p>
        </p:txBody>
      </p:sp>
      <p:grpSp>
        <p:nvGrpSpPr>
          <p:cNvPr id="83" name="Group 83"/>
          <p:cNvGrpSpPr/>
          <p:nvPr/>
        </p:nvGrpSpPr>
        <p:grpSpPr>
          <a:xfrm>
            <a:off x="10572750" y="6088639"/>
            <a:ext cx="2476500" cy="2476500"/>
            <a:chOff x="0" y="0"/>
            <a:chExt cx="3302000" cy="3302000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3302000" cy="3302000"/>
            </a:xfrm>
            <a:custGeom>
              <a:avLst/>
              <a:gdLst/>
              <a:ahLst/>
              <a:cxnLst/>
              <a:rect l="l" t="t" r="r" b="b"/>
              <a:pathLst>
                <a:path w="3302000" h="3302000">
                  <a:moveTo>
                    <a:pt x="1651000" y="0"/>
                  </a:moveTo>
                  <a:cubicBezTo>
                    <a:pt x="739178" y="0"/>
                    <a:pt x="0" y="739178"/>
                    <a:pt x="0" y="1651000"/>
                  </a:cubicBezTo>
                  <a:cubicBezTo>
                    <a:pt x="0" y="2562822"/>
                    <a:pt x="739178" y="3302000"/>
                    <a:pt x="1651000" y="3302000"/>
                  </a:cubicBezTo>
                  <a:cubicBezTo>
                    <a:pt x="2562822" y="3302000"/>
                    <a:pt x="3302000" y="2562822"/>
                    <a:pt x="3302000" y="1651000"/>
                  </a:cubicBezTo>
                  <a:cubicBezTo>
                    <a:pt x="3302000" y="739178"/>
                    <a:pt x="2562822" y="0"/>
                    <a:pt x="16510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60000"/>
                  </a:srgbClr>
                </a:gs>
                <a:gs pos="100000">
                  <a:srgbClr val="555555">
                    <a:alpha val="6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/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0" y="-38100"/>
              <a:ext cx="3302000" cy="334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11096625" y="6612514"/>
            <a:ext cx="1428750" cy="1428750"/>
            <a:chOff x="0" y="0"/>
            <a:chExt cx="1905000" cy="1905000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cubicBezTo>
                    <a:pt x="426449" y="0"/>
                    <a:pt x="0" y="426449"/>
                    <a:pt x="0" y="952500"/>
                  </a:cubicBezTo>
                  <a:cubicBezTo>
                    <a:pt x="0" y="1478551"/>
                    <a:pt x="426449" y="1905000"/>
                    <a:pt x="952500" y="1905000"/>
                  </a:cubicBezTo>
                  <a:cubicBezTo>
                    <a:pt x="1478551" y="1905000"/>
                    <a:pt x="1905000" y="1478551"/>
                    <a:pt x="1905000" y="952500"/>
                  </a:cubicBezTo>
                  <a:cubicBezTo>
                    <a:pt x="1905000" y="426449"/>
                    <a:pt x="1478551" y="0"/>
                    <a:pt x="952500" y="0"/>
                  </a:cubicBezTo>
                  <a:close/>
                </a:path>
              </a:pathLst>
            </a:custGeom>
            <a:solidFill>
              <a:srgbClr val="0A0A0A"/>
            </a:solidFill>
          </p:spPr>
          <p:txBody>
            <a:bodyPr/>
            <a:lstStyle/>
            <a:p>
              <a:endParaRPr lang="it-IT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38100"/>
              <a:ext cx="1905000" cy="194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9" name="TextBox 89"/>
          <p:cNvSpPr txBox="1"/>
          <p:nvPr/>
        </p:nvSpPr>
        <p:spPr>
          <a:xfrm>
            <a:off x="13430250" y="6136264"/>
            <a:ext cx="2857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Anthropic  80%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0096500" y="9203314"/>
            <a:ext cx="74295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679"/>
              </a:lnSpc>
              <a:spcBef>
                <a:spcPct val="0"/>
              </a:spcBef>
            </a:pPr>
            <a:r>
              <a:rPr lang="en-US" sz="1200" i="1" u="none" strike="noStrike">
                <a:solidFill>
                  <a:srgbClr val="555555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25% dei batch Y Combinator 2025 ha codebase al 95%+ AI-generata.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1524000" y="9734550"/>
            <a:ext cx="15240000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399"/>
              </a:lnSpc>
              <a:spcBef>
                <a:spcPct val="0"/>
              </a:spcBef>
            </a:pPr>
            <a:r>
              <a:rPr lang="en-US" sz="999" u="none" strike="noStrike">
                <a:solidFill>
                  <a:srgbClr val="444444"/>
                </a:solidFill>
                <a:latin typeface="Poppins"/>
                <a:ea typeface="Poppins"/>
                <a:cs typeface="Poppins"/>
                <a:sym typeface="Poppins"/>
              </a:rPr>
              <a:t>Sources: Stack Overflow Developer Survey 2025 · Google DORA 2025 · GitHub / industry reports · YC 2025.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05940" y="278130"/>
            <a:ext cx="7620000" cy="750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880"/>
              </a:lnSpc>
              <a:spcBef>
                <a:spcPct val="0"/>
              </a:spcBef>
            </a:pPr>
            <a:r>
              <a:rPr lang="en-US" sz="4200" u="none" strike="noStrike">
                <a:solidFill>
                  <a:srgbClr val="E8E8E8"/>
                </a:solidFill>
                <a:latin typeface="Poppins"/>
                <a:ea typeface="Poppins"/>
                <a:cs typeface="Poppins"/>
                <a:sym typeface="Poppins"/>
              </a:rPr>
              <a:t>S T R U M E N T 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31530" y="1577495"/>
            <a:ext cx="6153648" cy="2761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12"/>
              </a:lnSpc>
              <a:spcBef>
                <a:spcPct val="0"/>
              </a:spcBef>
            </a:pPr>
            <a:r>
              <a:rPr lang="en-US" sz="1508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CREA IL PROMPT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31530" y="1933038"/>
            <a:ext cx="3076824" cy="564515"/>
            <a:chOff x="0" y="0"/>
            <a:chExt cx="3807094" cy="6985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654603" y="2069424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Claude.ai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5839116" y="1933038"/>
            <a:ext cx="3076824" cy="564515"/>
            <a:chOff x="0" y="0"/>
            <a:chExt cx="3807094" cy="6985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962189" y="2069424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ChatGPT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2531530" y="2600192"/>
            <a:ext cx="3076824" cy="564515"/>
            <a:chOff x="0" y="0"/>
            <a:chExt cx="3807094" cy="6985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2654603" y="2736578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Gemini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5839116" y="2600192"/>
            <a:ext cx="3076824" cy="564515"/>
            <a:chOff x="0" y="0"/>
            <a:chExt cx="3807094" cy="6985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962189" y="2736578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Grok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2531530" y="3267346"/>
            <a:ext cx="3076824" cy="564515"/>
            <a:chOff x="0" y="0"/>
            <a:chExt cx="3807094" cy="6985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654603" y="3403732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Perplexity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5839116" y="3267346"/>
            <a:ext cx="3076824" cy="564515"/>
            <a:chOff x="0" y="0"/>
            <a:chExt cx="3807094" cy="6985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5962189" y="3403732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Microsoft Copilot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2531530" y="3934500"/>
            <a:ext cx="3076824" cy="564515"/>
            <a:chOff x="0" y="0"/>
            <a:chExt cx="3807094" cy="6985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654603" y="4070886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PromptPerfect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5839116" y="3934500"/>
            <a:ext cx="3076824" cy="564515"/>
            <a:chOff x="0" y="0"/>
            <a:chExt cx="3807094" cy="6985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5962189" y="4070886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FlowGPT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2531530" y="4601654"/>
            <a:ext cx="3076824" cy="564515"/>
            <a:chOff x="0" y="0"/>
            <a:chExt cx="3807094" cy="6985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2654603" y="4738041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AIPRM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5839116" y="4601654"/>
            <a:ext cx="3076824" cy="564515"/>
            <a:chOff x="0" y="0"/>
            <a:chExt cx="3807094" cy="6985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5962189" y="4738041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Anthropic Workbench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531530" y="5375142"/>
            <a:ext cx="6153648" cy="2761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12"/>
              </a:lnSpc>
              <a:spcBef>
                <a:spcPct val="0"/>
              </a:spcBef>
            </a:pPr>
            <a:r>
              <a:rPr lang="en-US" sz="1508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COSTRUISCI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2531530" y="5730684"/>
            <a:ext cx="3076824" cy="564515"/>
            <a:chOff x="0" y="0"/>
            <a:chExt cx="3807094" cy="6985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2654603" y="5867071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Lovable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839116" y="5730684"/>
            <a:ext cx="3076824" cy="564515"/>
            <a:chOff x="0" y="0"/>
            <a:chExt cx="3807094" cy="6985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962189" y="5867071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v0 by Vercel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2531530" y="6397838"/>
            <a:ext cx="3076824" cy="564515"/>
            <a:chOff x="0" y="0"/>
            <a:chExt cx="3807094" cy="6985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2654603" y="6534225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Bolt.new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5839116" y="6397838"/>
            <a:ext cx="3076824" cy="564515"/>
            <a:chOff x="0" y="0"/>
            <a:chExt cx="3807094" cy="69850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0" name="TextBox 60"/>
          <p:cNvSpPr txBox="1"/>
          <p:nvPr/>
        </p:nvSpPr>
        <p:spPr>
          <a:xfrm>
            <a:off x="5962189" y="6534225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Replit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2531530" y="7064992"/>
            <a:ext cx="3076824" cy="564515"/>
            <a:chOff x="0" y="0"/>
            <a:chExt cx="3807094" cy="6985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2654603" y="7201379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Cursor</a:t>
            </a:r>
          </a:p>
        </p:txBody>
      </p:sp>
      <p:grpSp>
        <p:nvGrpSpPr>
          <p:cNvPr id="65" name="Group 65"/>
          <p:cNvGrpSpPr/>
          <p:nvPr/>
        </p:nvGrpSpPr>
        <p:grpSpPr>
          <a:xfrm>
            <a:off x="5839116" y="7064992"/>
            <a:ext cx="3076824" cy="564515"/>
            <a:chOff x="0" y="0"/>
            <a:chExt cx="3807094" cy="6985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8" name="TextBox 68"/>
          <p:cNvSpPr txBox="1"/>
          <p:nvPr/>
        </p:nvSpPr>
        <p:spPr>
          <a:xfrm>
            <a:off x="5962189" y="7201379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GitHub Copilot</a:t>
            </a:r>
          </a:p>
        </p:txBody>
      </p:sp>
      <p:grpSp>
        <p:nvGrpSpPr>
          <p:cNvPr id="69" name="Group 69"/>
          <p:cNvGrpSpPr/>
          <p:nvPr/>
        </p:nvGrpSpPr>
        <p:grpSpPr>
          <a:xfrm>
            <a:off x="2531530" y="7732146"/>
            <a:ext cx="3076824" cy="564515"/>
            <a:chOff x="0" y="0"/>
            <a:chExt cx="3807094" cy="69850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2" name="TextBox 72"/>
          <p:cNvSpPr txBox="1"/>
          <p:nvPr/>
        </p:nvSpPr>
        <p:spPr>
          <a:xfrm>
            <a:off x="2654603" y="7868533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Google IDX</a:t>
            </a:r>
          </a:p>
        </p:txBody>
      </p:sp>
      <p:grpSp>
        <p:nvGrpSpPr>
          <p:cNvPr id="73" name="Group 73"/>
          <p:cNvGrpSpPr/>
          <p:nvPr/>
        </p:nvGrpSpPr>
        <p:grpSpPr>
          <a:xfrm>
            <a:off x="5839116" y="7732146"/>
            <a:ext cx="3076824" cy="564515"/>
            <a:chOff x="0" y="0"/>
            <a:chExt cx="3807094" cy="6985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6" name="TextBox 76"/>
          <p:cNvSpPr txBox="1"/>
          <p:nvPr/>
        </p:nvSpPr>
        <p:spPr>
          <a:xfrm>
            <a:off x="5962189" y="7868533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Windsurf</a:t>
            </a:r>
          </a:p>
        </p:txBody>
      </p:sp>
      <p:grpSp>
        <p:nvGrpSpPr>
          <p:cNvPr id="77" name="Group 77"/>
          <p:cNvGrpSpPr/>
          <p:nvPr/>
        </p:nvGrpSpPr>
        <p:grpSpPr>
          <a:xfrm>
            <a:off x="2531530" y="8399300"/>
            <a:ext cx="3076824" cy="564515"/>
            <a:chOff x="0" y="0"/>
            <a:chExt cx="3807094" cy="698500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2654603" y="8535687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Codeium</a:t>
            </a:r>
          </a:p>
        </p:txBody>
      </p:sp>
      <p:grpSp>
        <p:nvGrpSpPr>
          <p:cNvPr id="81" name="Group 81"/>
          <p:cNvGrpSpPr/>
          <p:nvPr/>
        </p:nvGrpSpPr>
        <p:grpSpPr>
          <a:xfrm>
            <a:off x="5839116" y="8399300"/>
            <a:ext cx="3076824" cy="564515"/>
            <a:chOff x="0" y="0"/>
            <a:chExt cx="3807094" cy="698500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3807094" cy="698500"/>
            </a:xfrm>
            <a:custGeom>
              <a:avLst/>
              <a:gdLst/>
              <a:ahLst/>
              <a:cxnLst/>
              <a:rect l="l" t="t" r="r" b="b"/>
              <a:pathLst>
                <a:path w="3807094" h="698500">
                  <a:moveTo>
                    <a:pt x="104695" y="0"/>
                  </a:moveTo>
                  <a:lnTo>
                    <a:pt x="3702399" y="0"/>
                  </a:lnTo>
                  <a:cubicBezTo>
                    <a:pt x="3760220" y="0"/>
                    <a:pt x="3807094" y="31273"/>
                    <a:pt x="3807094" y="69850"/>
                  </a:cubicBezTo>
                  <a:lnTo>
                    <a:pt x="3807094" y="628650"/>
                  </a:lnTo>
                  <a:cubicBezTo>
                    <a:pt x="3807094" y="667227"/>
                    <a:pt x="3760220" y="698500"/>
                    <a:pt x="3702399" y="698500"/>
                  </a:cubicBezTo>
                  <a:lnTo>
                    <a:pt x="104695" y="698500"/>
                  </a:lnTo>
                  <a:cubicBezTo>
                    <a:pt x="46874" y="698500"/>
                    <a:pt x="0" y="667227"/>
                    <a:pt x="0" y="628650"/>
                  </a:cubicBezTo>
                  <a:lnTo>
                    <a:pt x="0" y="69850"/>
                  </a:lnTo>
                  <a:cubicBezTo>
                    <a:pt x="0" y="31273"/>
                    <a:pt x="46874" y="0"/>
                    <a:pt x="10469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0" y="-38100"/>
              <a:ext cx="380709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4" name="TextBox 84"/>
          <p:cNvSpPr txBox="1"/>
          <p:nvPr/>
        </p:nvSpPr>
        <p:spPr>
          <a:xfrm>
            <a:off x="5962189" y="8535687"/>
            <a:ext cx="2830678" cy="231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10"/>
              </a:lnSpc>
              <a:spcBef>
                <a:spcPct val="0"/>
              </a:spcBef>
            </a:pPr>
            <a:r>
              <a:rPr lang="en-US" sz="1293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Firebase Genkit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9643731" y="1551143"/>
            <a:ext cx="47625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IL PROMPT PERFETTO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9643731" y="1932143"/>
            <a:ext cx="7143750" cy="1047750"/>
            <a:chOff x="0" y="0"/>
            <a:chExt cx="9525000" cy="1397000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9525000" cy="1397000"/>
            </a:xfrm>
            <a:custGeom>
              <a:avLst/>
              <a:gdLst/>
              <a:ahLst/>
              <a:cxnLst/>
              <a:rect l="l" t="t" r="r" b="b"/>
              <a:pathLst>
                <a:path w="9525000" h="1397000">
                  <a:moveTo>
                    <a:pt x="139700" y="0"/>
                  </a:moveTo>
                  <a:lnTo>
                    <a:pt x="9385300" y="0"/>
                  </a:lnTo>
                  <a:cubicBezTo>
                    <a:pt x="9462454" y="0"/>
                    <a:pt x="9525000" y="62546"/>
                    <a:pt x="9525000" y="139700"/>
                  </a:cubicBezTo>
                  <a:lnTo>
                    <a:pt x="9525000" y="1257300"/>
                  </a:lnTo>
                  <a:cubicBezTo>
                    <a:pt x="9525000" y="1334454"/>
                    <a:pt x="9462454" y="1397000"/>
                    <a:pt x="9385300" y="1397000"/>
                  </a:cubicBezTo>
                  <a:lnTo>
                    <a:pt x="139700" y="1397000"/>
                  </a:lnTo>
                  <a:cubicBezTo>
                    <a:pt x="6254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62546" y="0"/>
                    <a:pt x="1397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38100"/>
              <a:ext cx="952500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9" name="TextBox 89"/>
          <p:cNvSpPr txBox="1"/>
          <p:nvPr/>
        </p:nvSpPr>
        <p:spPr>
          <a:xfrm>
            <a:off x="9881856" y="2151218"/>
            <a:ext cx="476250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🎯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0405731" y="2017868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OBIETTIVO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10405731" y="2408393"/>
            <a:ext cx="4762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Cosa deve fare?</a:t>
            </a:r>
          </a:p>
        </p:txBody>
      </p:sp>
      <p:grpSp>
        <p:nvGrpSpPr>
          <p:cNvPr id="92" name="Group 92"/>
          <p:cNvGrpSpPr/>
          <p:nvPr/>
        </p:nvGrpSpPr>
        <p:grpSpPr>
          <a:xfrm>
            <a:off x="9643731" y="3122768"/>
            <a:ext cx="7143750" cy="1047750"/>
            <a:chOff x="0" y="0"/>
            <a:chExt cx="9525000" cy="1397000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9525000" cy="1397000"/>
            </a:xfrm>
            <a:custGeom>
              <a:avLst/>
              <a:gdLst/>
              <a:ahLst/>
              <a:cxnLst/>
              <a:rect l="l" t="t" r="r" b="b"/>
              <a:pathLst>
                <a:path w="9525000" h="1397000">
                  <a:moveTo>
                    <a:pt x="139700" y="0"/>
                  </a:moveTo>
                  <a:lnTo>
                    <a:pt x="9385300" y="0"/>
                  </a:lnTo>
                  <a:cubicBezTo>
                    <a:pt x="9462454" y="0"/>
                    <a:pt x="9525000" y="62546"/>
                    <a:pt x="9525000" y="139700"/>
                  </a:cubicBezTo>
                  <a:lnTo>
                    <a:pt x="9525000" y="1257300"/>
                  </a:lnTo>
                  <a:cubicBezTo>
                    <a:pt x="9525000" y="1334454"/>
                    <a:pt x="9462454" y="1397000"/>
                    <a:pt x="9385300" y="1397000"/>
                  </a:cubicBezTo>
                  <a:lnTo>
                    <a:pt x="139700" y="1397000"/>
                  </a:lnTo>
                  <a:cubicBezTo>
                    <a:pt x="6254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62546" y="0"/>
                    <a:pt x="1397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38100"/>
              <a:ext cx="952500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9881856" y="3341843"/>
            <a:ext cx="476250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👥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10405731" y="3208493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PUBBLICO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10405731" y="3599018"/>
            <a:ext cx="4762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Per chi è?</a:t>
            </a:r>
          </a:p>
        </p:txBody>
      </p:sp>
      <p:grpSp>
        <p:nvGrpSpPr>
          <p:cNvPr id="98" name="Group 98"/>
          <p:cNvGrpSpPr/>
          <p:nvPr/>
        </p:nvGrpSpPr>
        <p:grpSpPr>
          <a:xfrm>
            <a:off x="9643731" y="4313393"/>
            <a:ext cx="7143750" cy="1047750"/>
            <a:chOff x="0" y="0"/>
            <a:chExt cx="9525000" cy="1397000"/>
          </a:xfrm>
        </p:grpSpPr>
        <p:sp>
          <p:nvSpPr>
            <p:cNvPr id="99" name="Freeform 99"/>
            <p:cNvSpPr/>
            <p:nvPr/>
          </p:nvSpPr>
          <p:spPr>
            <a:xfrm>
              <a:off x="0" y="0"/>
              <a:ext cx="9525000" cy="1397000"/>
            </a:xfrm>
            <a:custGeom>
              <a:avLst/>
              <a:gdLst/>
              <a:ahLst/>
              <a:cxnLst/>
              <a:rect l="l" t="t" r="r" b="b"/>
              <a:pathLst>
                <a:path w="9525000" h="1397000">
                  <a:moveTo>
                    <a:pt x="139700" y="0"/>
                  </a:moveTo>
                  <a:lnTo>
                    <a:pt x="9385300" y="0"/>
                  </a:lnTo>
                  <a:cubicBezTo>
                    <a:pt x="9462454" y="0"/>
                    <a:pt x="9525000" y="62546"/>
                    <a:pt x="9525000" y="139700"/>
                  </a:cubicBezTo>
                  <a:lnTo>
                    <a:pt x="9525000" y="1257300"/>
                  </a:lnTo>
                  <a:cubicBezTo>
                    <a:pt x="9525000" y="1334454"/>
                    <a:pt x="9462454" y="1397000"/>
                    <a:pt x="9385300" y="1397000"/>
                  </a:cubicBezTo>
                  <a:lnTo>
                    <a:pt x="139700" y="1397000"/>
                  </a:lnTo>
                  <a:cubicBezTo>
                    <a:pt x="6254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62546" y="0"/>
                    <a:pt x="1397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0" y="-38100"/>
              <a:ext cx="952500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01" name="TextBox 101"/>
          <p:cNvSpPr txBox="1"/>
          <p:nvPr/>
        </p:nvSpPr>
        <p:spPr>
          <a:xfrm>
            <a:off x="9881856" y="4532468"/>
            <a:ext cx="476250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🎨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0405731" y="4399118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DESIGN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10405731" y="4789643"/>
            <a:ext cx="4762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Colori, stile, font</a:t>
            </a:r>
          </a:p>
        </p:txBody>
      </p:sp>
      <p:grpSp>
        <p:nvGrpSpPr>
          <p:cNvPr id="104" name="Group 104"/>
          <p:cNvGrpSpPr/>
          <p:nvPr/>
        </p:nvGrpSpPr>
        <p:grpSpPr>
          <a:xfrm>
            <a:off x="9643731" y="5504018"/>
            <a:ext cx="7143750" cy="1047750"/>
            <a:chOff x="0" y="0"/>
            <a:chExt cx="9525000" cy="1397000"/>
          </a:xfrm>
        </p:grpSpPr>
        <p:sp>
          <p:nvSpPr>
            <p:cNvPr id="105" name="Freeform 105"/>
            <p:cNvSpPr/>
            <p:nvPr/>
          </p:nvSpPr>
          <p:spPr>
            <a:xfrm>
              <a:off x="0" y="0"/>
              <a:ext cx="9525000" cy="1397000"/>
            </a:xfrm>
            <a:custGeom>
              <a:avLst/>
              <a:gdLst/>
              <a:ahLst/>
              <a:cxnLst/>
              <a:rect l="l" t="t" r="r" b="b"/>
              <a:pathLst>
                <a:path w="9525000" h="1397000">
                  <a:moveTo>
                    <a:pt x="139700" y="0"/>
                  </a:moveTo>
                  <a:lnTo>
                    <a:pt x="9385300" y="0"/>
                  </a:lnTo>
                  <a:cubicBezTo>
                    <a:pt x="9462454" y="0"/>
                    <a:pt x="9525000" y="62546"/>
                    <a:pt x="9525000" y="139700"/>
                  </a:cubicBezTo>
                  <a:lnTo>
                    <a:pt x="9525000" y="1257300"/>
                  </a:lnTo>
                  <a:cubicBezTo>
                    <a:pt x="9525000" y="1334454"/>
                    <a:pt x="9462454" y="1397000"/>
                    <a:pt x="9385300" y="1397000"/>
                  </a:cubicBezTo>
                  <a:lnTo>
                    <a:pt x="139700" y="1397000"/>
                  </a:lnTo>
                  <a:cubicBezTo>
                    <a:pt x="6254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62546" y="0"/>
                    <a:pt x="1397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0" y="-38100"/>
              <a:ext cx="952500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07" name="TextBox 107"/>
          <p:cNvSpPr txBox="1"/>
          <p:nvPr/>
        </p:nvSpPr>
        <p:spPr>
          <a:xfrm>
            <a:off x="9881856" y="5723093"/>
            <a:ext cx="476250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⚙️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10405731" y="5589743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FUNZIONALITÀ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10405731" y="5980268"/>
            <a:ext cx="4762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Pagine, features, tools</a:t>
            </a:r>
          </a:p>
        </p:txBody>
      </p:sp>
      <p:grpSp>
        <p:nvGrpSpPr>
          <p:cNvPr id="110" name="Group 110"/>
          <p:cNvGrpSpPr/>
          <p:nvPr/>
        </p:nvGrpSpPr>
        <p:grpSpPr>
          <a:xfrm>
            <a:off x="9643731" y="6694643"/>
            <a:ext cx="7143750" cy="1047750"/>
            <a:chOff x="0" y="0"/>
            <a:chExt cx="9525000" cy="1397000"/>
          </a:xfrm>
        </p:grpSpPr>
        <p:sp>
          <p:nvSpPr>
            <p:cNvPr id="111" name="Freeform 111"/>
            <p:cNvSpPr/>
            <p:nvPr/>
          </p:nvSpPr>
          <p:spPr>
            <a:xfrm>
              <a:off x="0" y="0"/>
              <a:ext cx="9525000" cy="1397000"/>
            </a:xfrm>
            <a:custGeom>
              <a:avLst/>
              <a:gdLst/>
              <a:ahLst/>
              <a:cxnLst/>
              <a:rect l="l" t="t" r="r" b="b"/>
              <a:pathLst>
                <a:path w="9525000" h="1397000">
                  <a:moveTo>
                    <a:pt x="139700" y="0"/>
                  </a:moveTo>
                  <a:lnTo>
                    <a:pt x="9385300" y="0"/>
                  </a:lnTo>
                  <a:cubicBezTo>
                    <a:pt x="9462454" y="0"/>
                    <a:pt x="9525000" y="62546"/>
                    <a:pt x="9525000" y="139700"/>
                  </a:cubicBezTo>
                  <a:lnTo>
                    <a:pt x="9525000" y="1257300"/>
                  </a:lnTo>
                  <a:cubicBezTo>
                    <a:pt x="9525000" y="1334454"/>
                    <a:pt x="9462454" y="1397000"/>
                    <a:pt x="9385300" y="1397000"/>
                  </a:cubicBezTo>
                  <a:lnTo>
                    <a:pt x="139700" y="1397000"/>
                  </a:lnTo>
                  <a:cubicBezTo>
                    <a:pt x="6254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62546" y="0"/>
                    <a:pt x="1397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0" y="-38100"/>
              <a:ext cx="952500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3" name="TextBox 113"/>
          <p:cNvSpPr txBox="1"/>
          <p:nvPr/>
        </p:nvSpPr>
        <p:spPr>
          <a:xfrm>
            <a:off x="9881856" y="6913718"/>
            <a:ext cx="476250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🌍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10405731" y="6780368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LINGUA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10405731" y="7170893"/>
            <a:ext cx="4762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EN/IT, traduzioni</a:t>
            </a:r>
          </a:p>
        </p:txBody>
      </p:sp>
      <p:grpSp>
        <p:nvGrpSpPr>
          <p:cNvPr id="116" name="Group 116"/>
          <p:cNvGrpSpPr/>
          <p:nvPr/>
        </p:nvGrpSpPr>
        <p:grpSpPr>
          <a:xfrm>
            <a:off x="9643731" y="7885268"/>
            <a:ext cx="7143750" cy="1047750"/>
            <a:chOff x="0" y="0"/>
            <a:chExt cx="9525000" cy="1397000"/>
          </a:xfrm>
        </p:grpSpPr>
        <p:sp>
          <p:nvSpPr>
            <p:cNvPr id="117" name="Freeform 117"/>
            <p:cNvSpPr/>
            <p:nvPr/>
          </p:nvSpPr>
          <p:spPr>
            <a:xfrm>
              <a:off x="0" y="0"/>
              <a:ext cx="9525000" cy="1397000"/>
            </a:xfrm>
            <a:custGeom>
              <a:avLst/>
              <a:gdLst/>
              <a:ahLst/>
              <a:cxnLst/>
              <a:rect l="l" t="t" r="r" b="b"/>
              <a:pathLst>
                <a:path w="9525000" h="1397000">
                  <a:moveTo>
                    <a:pt x="139700" y="0"/>
                  </a:moveTo>
                  <a:lnTo>
                    <a:pt x="9385300" y="0"/>
                  </a:lnTo>
                  <a:cubicBezTo>
                    <a:pt x="9462454" y="0"/>
                    <a:pt x="9525000" y="62546"/>
                    <a:pt x="9525000" y="139700"/>
                  </a:cubicBezTo>
                  <a:lnTo>
                    <a:pt x="9525000" y="1257300"/>
                  </a:lnTo>
                  <a:cubicBezTo>
                    <a:pt x="9525000" y="1334454"/>
                    <a:pt x="9462454" y="1397000"/>
                    <a:pt x="9385300" y="1397000"/>
                  </a:cubicBezTo>
                  <a:lnTo>
                    <a:pt x="139700" y="1397000"/>
                  </a:lnTo>
                  <a:cubicBezTo>
                    <a:pt x="62546" y="1397000"/>
                    <a:pt x="0" y="1334454"/>
                    <a:pt x="0" y="1257300"/>
                  </a:cubicBezTo>
                  <a:lnTo>
                    <a:pt x="0" y="139700"/>
                  </a:lnTo>
                  <a:cubicBezTo>
                    <a:pt x="0" y="62546"/>
                    <a:pt x="62546" y="0"/>
                    <a:pt x="1397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18" name="TextBox 118"/>
            <p:cNvSpPr txBox="1"/>
            <p:nvPr/>
          </p:nvSpPr>
          <p:spPr>
            <a:xfrm>
              <a:off x="0" y="-38100"/>
              <a:ext cx="9525000" cy="1435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19" name="TextBox 119"/>
          <p:cNvSpPr txBox="1"/>
          <p:nvPr/>
        </p:nvSpPr>
        <p:spPr>
          <a:xfrm>
            <a:off x="9881856" y="8104343"/>
            <a:ext cx="476250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919"/>
              </a:lnSpc>
              <a:spcBef>
                <a:spcPct val="0"/>
              </a:spcBef>
            </a:pPr>
            <a:r>
              <a:rPr lang="en-US" sz="27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🔧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10405731" y="7970993"/>
            <a:ext cx="476250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20"/>
              </a:lnSpc>
              <a:spcBef>
                <a:spcPct val="0"/>
              </a:spcBef>
            </a:pPr>
            <a:r>
              <a:rPr lang="en-US" sz="1800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VINCOLI TECNICI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10405731" y="8361518"/>
            <a:ext cx="4762500" cy="233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819"/>
              </a:lnSpc>
              <a:spcBef>
                <a:spcPct val="0"/>
              </a:spcBef>
            </a:pPr>
            <a:r>
              <a:rPr lang="en-US" sz="1299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Framework, responsive, accessibilità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6286500" y="9696450"/>
            <a:ext cx="5715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9"/>
              </a:lnSpc>
              <a:spcBef>
                <a:spcPct val="0"/>
              </a:spcBef>
            </a:pPr>
            <a:r>
              <a:rPr lang="en-US" sz="1200" u="none" strike="noStrike">
                <a:solidFill>
                  <a:srgbClr val="555555"/>
                </a:solidFill>
                <a:latin typeface="Poppins"/>
                <a:ea typeface="Poppins"/>
                <a:cs typeface="Poppins"/>
                <a:sym typeface="Poppins"/>
              </a:rPr>
              <a:t>Tutti i link → teodorina.tech/links</a:t>
            </a:r>
          </a:p>
        </p:txBody>
      </p:sp>
      <p:sp>
        <p:nvSpPr>
          <p:cNvPr id="123" name="Freeform 123"/>
          <p:cNvSpPr/>
          <p:nvPr/>
        </p:nvSpPr>
        <p:spPr>
          <a:xfrm>
            <a:off x="-107601" y="-69060"/>
            <a:ext cx="2272602" cy="10356060"/>
          </a:xfrm>
          <a:custGeom>
            <a:avLst/>
            <a:gdLst/>
            <a:ahLst/>
            <a:cxnLst/>
            <a:rect l="l" t="t" r="r" b="b"/>
            <a:pathLst>
              <a:path w="2272602" h="10356060">
                <a:moveTo>
                  <a:pt x="0" y="0"/>
                </a:moveTo>
                <a:lnTo>
                  <a:pt x="2272602" y="0"/>
                </a:lnTo>
                <a:lnTo>
                  <a:pt x="2272602" y="10356060"/>
                </a:lnTo>
                <a:lnTo>
                  <a:pt x="0" y="1035606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8000"/>
            </a:blip>
            <a:stretch>
              <a:fillRect l="-3303" t="-1301" r="-570148"/>
            </a:stretch>
          </a:blipFill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" y="8541724"/>
            <a:ext cx="18288000" cy="1754130"/>
          </a:xfrm>
          <a:custGeom>
            <a:avLst/>
            <a:gdLst/>
            <a:ahLst/>
            <a:cxnLst/>
            <a:rect l="l" t="t" r="r" b="b"/>
            <a:pathLst>
              <a:path w="18576561" h="1754130">
                <a:moveTo>
                  <a:pt x="0" y="0"/>
                </a:moveTo>
                <a:lnTo>
                  <a:pt x="18576561" y="0"/>
                </a:lnTo>
                <a:lnTo>
                  <a:pt x="18576561" y="1754131"/>
                </a:lnTo>
                <a:lnTo>
                  <a:pt x="0" y="17541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2999"/>
            </a:blip>
            <a:stretch>
              <a:fillRect t="-593939" b="-31969"/>
            </a:stretch>
          </a:blipFill>
        </p:spPr>
        <p:txBody>
          <a:bodyPr/>
          <a:lstStyle/>
          <a:p>
            <a:endParaRPr lang="it-IT"/>
          </a:p>
        </p:txBody>
      </p:sp>
      <p:grpSp>
        <p:nvGrpSpPr>
          <p:cNvPr id="3" name="Group 3"/>
          <p:cNvGrpSpPr/>
          <p:nvPr/>
        </p:nvGrpSpPr>
        <p:grpSpPr>
          <a:xfrm>
            <a:off x="3512160" y="9131451"/>
            <a:ext cx="11263680" cy="574678"/>
            <a:chOff x="0" y="0"/>
            <a:chExt cx="15018239" cy="766237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4597420" cy="766237"/>
              <a:chOff x="0" y="0"/>
              <a:chExt cx="3810000" cy="6350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3810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635000">
                    <a:moveTo>
                      <a:pt x="63500" y="0"/>
                    </a:moveTo>
                    <a:lnTo>
                      <a:pt x="3746500" y="0"/>
                    </a:lnTo>
                    <a:cubicBezTo>
                      <a:pt x="3781570" y="0"/>
                      <a:pt x="3810000" y="28430"/>
                      <a:pt x="3810000" y="63500"/>
                    </a:cubicBezTo>
                    <a:lnTo>
                      <a:pt x="3810000" y="571500"/>
                    </a:lnTo>
                    <a:cubicBezTo>
                      <a:pt x="3810000" y="606570"/>
                      <a:pt x="3781570" y="635000"/>
                      <a:pt x="3746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0" y="0"/>
                    </a:lnTo>
                    <a:cubicBezTo>
                      <a:pt x="0" y="0"/>
                      <a:pt x="63500" y="0"/>
                      <a:pt x="6350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C0C0C0">
                      <a:alpha val="19000"/>
                    </a:srgbClr>
                  </a:gs>
                  <a:gs pos="100000">
                    <a:srgbClr val="555555">
                      <a:alpha val="19000"/>
                    </a:srgbClr>
                  </a:gs>
                </a:gsLst>
                <a:lin ang="5400000"/>
              </a:gradFill>
              <a:ln w="9525" cap="rnd">
                <a:solidFill>
                  <a:srgbClr val="666666">
                    <a:alpha val="18824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38100"/>
                <a:ext cx="3810000" cy="67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5210410" y="0"/>
              <a:ext cx="4597420" cy="766237"/>
              <a:chOff x="0" y="0"/>
              <a:chExt cx="3810000" cy="6350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3810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635000">
                    <a:moveTo>
                      <a:pt x="63500" y="0"/>
                    </a:moveTo>
                    <a:lnTo>
                      <a:pt x="3746500" y="0"/>
                    </a:lnTo>
                    <a:cubicBezTo>
                      <a:pt x="3781570" y="0"/>
                      <a:pt x="3810000" y="28430"/>
                      <a:pt x="3810000" y="63500"/>
                    </a:cubicBezTo>
                    <a:lnTo>
                      <a:pt x="3810000" y="571500"/>
                    </a:lnTo>
                    <a:cubicBezTo>
                      <a:pt x="3810000" y="606570"/>
                      <a:pt x="3781570" y="635000"/>
                      <a:pt x="3746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0" y="0"/>
                    </a:lnTo>
                    <a:cubicBezTo>
                      <a:pt x="0" y="0"/>
                      <a:pt x="63500" y="0"/>
                      <a:pt x="6350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C0C0C0">
                      <a:alpha val="23000"/>
                    </a:srgbClr>
                  </a:gs>
                  <a:gs pos="100000">
                    <a:srgbClr val="555555">
                      <a:alpha val="23000"/>
                    </a:srgbClr>
                  </a:gs>
                </a:gsLst>
                <a:lin ang="5400000"/>
              </a:gradFill>
              <a:ln w="9525" cap="rnd">
                <a:solidFill>
                  <a:srgbClr val="666666">
                    <a:alpha val="22745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38100"/>
                <a:ext cx="3810000" cy="67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10420819" y="0"/>
              <a:ext cx="4597420" cy="766237"/>
              <a:chOff x="0" y="0"/>
              <a:chExt cx="3810000" cy="635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3810000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3810000" h="635000">
                    <a:moveTo>
                      <a:pt x="63500" y="0"/>
                    </a:moveTo>
                    <a:lnTo>
                      <a:pt x="3746500" y="0"/>
                    </a:lnTo>
                    <a:cubicBezTo>
                      <a:pt x="3781570" y="0"/>
                      <a:pt x="3810000" y="28430"/>
                      <a:pt x="3810000" y="63500"/>
                    </a:cubicBezTo>
                    <a:lnTo>
                      <a:pt x="3810000" y="571500"/>
                    </a:lnTo>
                    <a:cubicBezTo>
                      <a:pt x="3810000" y="606570"/>
                      <a:pt x="3781570" y="635000"/>
                      <a:pt x="3746500" y="635000"/>
                    </a:cubicBezTo>
                    <a:lnTo>
                      <a:pt x="63500" y="635000"/>
                    </a:lnTo>
                    <a:cubicBezTo>
                      <a:pt x="28430" y="635000"/>
                      <a:pt x="0" y="606570"/>
                      <a:pt x="0" y="5715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0" y="0"/>
                    </a:lnTo>
                    <a:cubicBezTo>
                      <a:pt x="0" y="0"/>
                      <a:pt x="63500" y="0"/>
                      <a:pt x="6350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C0C0C0">
                      <a:alpha val="30000"/>
                    </a:srgbClr>
                  </a:gs>
                  <a:gs pos="100000">
                    <a:srgbClr val="555555">
                      <a:alpha val="30000"/>
                    </a:srgbClr>
                  </a:gs>
                </a:gsLst>
                <a:lin ang="5400000"/>
              </a:gradFill>
              <a:ln w="9525" cap="rnd">
                <a:solidFill>
                  <a:srgbClr val="666666">
                    <a:alpha val="29804"/>
                  </a:srgbClr>
                </a:solidFill>
                <a:prstDash val="solid"/>
                <a:rou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38100"/>
                <a:ext cx="3810000" cy="673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153247" y="142072"/>
              <a:ext cx="4290926" cy="3983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u="none" strike="noStrike">
                  <a:solidFill>
                    <a:srgbClr val="CCCCCC"/>
                  </a:solidFill>
                  <a:latin typeface="Poppins"/>
                  <a:ea typeface="Poppins"/>
                  <a:cs typeface="Poppins"/>
                  <a:sym typeface="Poppins"/>
                </a:rPr>
                <a:t>Un prompt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63657" y="142072"/>
              <a:ext cx="4290926" cy="3983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u="none" strike="noStrike">
                  <a:solidFill>
                    <a:srgbClr val="CCCCCC"/>
                  </a:solidFill>
                  <a:latin typeface="Poppins"/>
                  <a:ea typeface="Poppins"/>
                  <a:cs typeface="Poppins"/>
                  <a:sym typeface="Poppins"/>
                </a:rPr>
                <a:t>Una piattaforma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74067" y="142072"/>
              <a:ext cx="4290926" cy="3983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u="none" strike="noStrike">
                  <a:solidFill>
                    <a:srgbClr val="CCCCCC"/>
                  </a:solidFill>
                  <a:latin typeface="Poppins"/>
                  <a:ea typeface="Poppins"/>
                  <a:cs typeface="Poppins"/>
                  <a:sym typeface="Poppins"/>
                </a:rPr>
                <a:t>Per ogni generazione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476500" y="647700"/>
            <a:ext cx="13335000" cy="6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20"/>
              </a:lnSpc>
              <a:spcBef>
                <a:spcPct val="0"/>
              </a:spcBef>
            </a:pPr>
            <a:r>
              <a:rPr lang="en-US" sz="3800" u="none" strike="noStrike">
                <a:solidFill>
                  <a:srgbClr val="E8E8E8"/>
                </a:solidFill>
                <a:latin typeface="Poppins"/>
                <a:ea typeface="Poppins"/>
                <a:cs typeface="Poppins"/>
                <a:sym typeface="Poppins"/>
              </a:rPr>
              <a:t>G O O D   V I B R A T I O N S   ·   L I V 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29000" y="1366711"/>
            <a:ext cx="11430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i="1" u="none" strike="noStrike" dirty="0">
                <a:solidFill>
                  <a:srgbClr val="CCCCCC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" Jarvis, I need you to create a perfect prompt for a ready-to-publish learning platform... "</a:t>
            </a:r>
          </a:p>
        </p:txBody>
      </p:sp>
      <p:sp>
        <p:nvSpPr>
          <p:cNvPr id="29" name="Intro Line"/>
          <p:cNvSpPr txBox="1"/>
          <p:nvPr/>
        </p:nvSpPr>
        <p:spPr>
          <a:xfrm>
            <a:off x="914400" y="1690000"/>
            <a:ext cx="16459200" cy="43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algn="ctr">
              <a:lnSpc>
                <a:spcPts val="1700"/>
              </a:lnSpc>
            </a:pPr>
            <a:r>
              <a:rPr lang="en-US" sz="13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Build a complete multi-page cybersecurity awareness platform called </a:t>
            </a:r>
            <a:r>
              <a:rPr lang="en-US" sz="13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Cyber Fun</a:t>
            </a:r>
            <a:r>
              <a:rPr lang="en-US" sz="13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 using React + Tailwind CSS.</a:t>
            </a:r>
          </a:p>
        </p:txBody>
      </p:sp>
      <p:sp>
        <p:nvSpPr>
          <p:cNvPr id="30" name="Card Goal Design"/>
          <p:cNvSpPr/>
          <p:nvPr/>
        </p:nvSpPr>
        <p:spPr>
          <a:xfrm>
            <a:off x="914400" y="2240280"/>
            <a:ext cx="3874770" cy="5440000"/>
          </a:xfrm>
          <a:prstGeom prst="roundRect">
            <a:avLst>
              <a:gd name="adj" fmla="val 55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22000"/>
              </a:srgbClr>
            </a:solidFill>
          </a:ln>
        </p:spPr>
        <p:txBody>
          <a:bodyPr wrap="square" lIns="146304" tIns="118872" rIns="146304" bIns="100584" rtlCol="0" anchor="t">
            <a:norm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Goal &amp; Design</a:t>
            </a:r>
          </a:p>
          <a:p>
            <a:pPr algn="l">
              <a:lnSpc>
                <a:spcPts val="13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GOAL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Teach cybersecurity to kids, seniors, and non-technical users.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Friendly, never scary. All content in English and Italian.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Language toggle in the navbar, persisted in </a:t>
            </a:r>
            <a:r>
              <a:rPr lang="en-US" sz="1200" dirty="0" err="1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localStorage</a:t>
            </a: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algn="l">
              <a:lnSpc>
                <a:spcPts val="1300"/>
              </a:lnSpc>
              <a:spcBef>
                <a:spcPts val="640"/>
              </a:spcBef>
            </a:pPr>
            <a:r>
              <a:rPr lang="en-US" sz="1200" b="1" dirty="0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DESIGN SYSTEM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Warm white background, teal primary, blue and cyan accents.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Glass-morphism cards, backdrop blur, soft borders, rounded corners.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Fonts: Nunito headings, Plus Jakarta Sans body. Min 16px for accessibility.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Fully responsive with a mobile hamburger menu. No dark mode.</a:t>
            </a:r>
          </a:p>
          <a:p>
            <a:pPr algn="l">
              <a:lnSpc>
                <a:spcPts val="1300"/>
              </a:lnSpc>
              <a:spcBef>
                <a:spcPts val="640"/>
              </a:spcBef>
            </a:pPr>
            <a:r>
              <a:rPr lang="en-US" sz="1200" b="1" dirty="0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NAVBAR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Logo left: Cyber Fun. Solid white, sticky, not transparent.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 dirty="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Links: Home, Learn, Practice dropdown (Memory + Connect Game), Tools, EN/IT toggle.</a:t>
            </a:r>
          </a:p>
        </p:txBody>
      </p:sp>
      <p:sp>
        <p:nvSpPr>
          <p:cNvPr id="31" name="Card Learning Pages"/>
          <p:cNvSpPr/>
          <p:nvPr/>
        </p:nvSpPr>
        <p:spPr>
          <a:xfrm>
            <a:off x="5109210" y="2240280"/>
            <a:ext cx="3874770" cy="5440000"/>
          </a:xfrm>
          <a:prstGeom prst="roundRect">
            <a:avLst>
              <a:gd name="adj" fmla="val 55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22000"/>
              </a:srgbClr>
            </a:solidFill>
          </a:ln>
        </p:spPr>
        <p:txBody>
          <a:bodyPr wrap="square" lIns="146304" tIns="118872" rIns="146304" bIns="100584" rtlCol="0" anchor="t">
            <a:norm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</a:pPr>
            <a:r>
              <a:rPr lang="en-US" sz="16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Learning Pages</a:t>
            </a:r>
          </a:p>
          <a:p>
            <a:pPr algn="l">
              <a:lnSpc>
                <a:spcPts val="1300"/>
              </a:lnSpc>
              <a:spcBef>
                <a:spcPts val="0"/>
              </a:spcBef>
            </a:pPr>
            <a:r>
              <a:rPr lang="en-US" sz="1200" b="1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HOME PAGE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Hero: a full 3D scene of a happy family — teenager, mom, dad, grandma and a pet — using devices safely together.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Headline and subtitle in EN/IT; CTA scrolls to features.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Feature grid of 4 cards — Learn, Memory Game, Connect Game, Tools — each with a Lucide icon.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Threat map section before the footer.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Footer: Made with Good Vibes — Terms, Privacy, teodorina.tech.</a:t>
            </a:r>
          </a:p>
          <a:p>
            <a:pPr algn="l">
              <a:lnSpc>
                <a:spcPts val="1300"/>
              </a:lnSpc>
              <a:spcBef>
                <a:spcPts val="640"/>
              </a:spcBef>
            </a:pPr>
            <a:r>
              <a:rPr lang="en-US" sz="1200" b="1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LEARN PAGE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3 chapters, each with a large Lucide icon, title, plain-language text, real-life example and a Did you know tip card.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1. What is cybersecurity   2. Why it matters   3. How to spot threats.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All content EN/IT.</a:t>
            </a:r>
          </a:p>
        </p:txBody>
      </p:sp>
      <p:sp>
        <p:nvSpPr>
          <p:cNvPr id="32" name="Card Entertainment Pages"/>
          <p:cNvSpPr/>
          <p:nvPr/>
        </p:nvSpPr>
        <p:spPr>
          <a:xfrm>
            <a:off x="9304020" y="2240280"/>
            <a:ext cx="3874770" cy="5440000"/>
          </a:xfrm>
          <a:prstGeom prst="roundRect">
            <a:avLst>
              <a:gd name="adj" fmla="val 55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22000"/>
              </a:srgbClr>
            </a:solidFill>
          </a:ln>
        </p:spPr>
        <p:txBody>
          <a:bodyPr wrap="square" lIns="146304" tIns="118872" rIns="146304" bIns="100584" rtlCol="0" anchor="t">
            <a:norm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</a:pPr>
            <a:r>
              <a:rPr lang="en-US" sz="20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Entertainment Pages</a:t>
            </a:r>
          </a:p>
          <a:p>
            <a:pPr algn="l">
              <a:lnSpc>
                <a:spcPts val="1300"/>
              </a:lnSpc>
              <a:spcBef>
                <a:spcPts val="0"/>
              </a:spcBef>
            </a:pPr>
            <a:r>
              <a:rPr lang="en-US" sz="1100" b="1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MEMORY GAME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4x4 flip-card grid: match each term to its definition.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Card front shows a </a:t>
            </a:r>
            <a:r>
              <a:rPr lang="en-US" sz="1050" err="1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Lucide</a:t>
            </a: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 icon and label, back shows the definition.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Pairs: Phishing, 2FA, VPN, Malware, Firewall, Backup, Password, Hacker.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Flip animation, matched pairs highlight teal, score counter.</a:t>
            </a:r>
          </a:p>
          <a:p>
            <a:pPr algn="l">
              <a:lnSpc>
                <a:spcPts val="1300"/>
              </a:lnSpc>
              <a:spcBef>
                <a:spcPts val="640"/>
              </a:spcBef>
            </a:pPr>
            <a:r>
              <a:rPr lang="en-US" sz="1100" b="1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CONNECT GAME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Two columns — terms left, definitions right.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Click a term then a definition; an SVG line draws between them.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Green when correct; red when wrong, disappearing after one second.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Score counter, shuffle and reset, all labels EN/IT.</a:t>
            </a:r>
          </a:p>
          <a:p>
            <a:pPr algn="l">
              <a:lnSpc>
                <a:spcPts val="1300"/>
              </a:lnSpc>
              <a:spcBef>
                <a:spcPts val="640"/>
              </a:spcBef>
            </a:pPr>
            <a:r>
              <a:rPr lang="en-US" sz="1100" b="1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TOOLS — THREE TABS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Phishing Detector: paste or upload a message (OCR via tesseract.js; </a:t>
            </a:r>
            <a:r>
              <a:rPr lang="en-US" sz="1050" err="1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eml</a:t>
            </a: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, txt, html), returning danger level, red flags and an EN/IT verdict, plus three samples.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Password Checker: show/hide input, animated strength meter, criteria checklist; fully client-side.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05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Cyber Hygiene Quiz: 10 yes/no questions, Home or Company toggle, badges (Beginner, Aware, Guardian).</a:t>
            </a:r>
          </a:p>
        </p:txBody>
      </p:sp>
      <p:sp>
        <p:nvSpPr>
          <p:cNvPr id="33" name="Card Other Details"/>
          <p:cNvSpPr/>
          <p:nvPr/>
        </p:nvSpPr>
        <p:spPr>
          <a:xfrm>
            <a:off x="13498830" y="2240280"/>
            <a:ext cx="3874770" cy="5440000"/>
          </a:xfrm>
          <a:prstGeom prst="roundRect">
            <a:avLst>
              <a:gd name="adj" fmla="val 55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22000"/>
              </a:srgbClr>
            </a:solidFill>
          </a:ln>
        </p:spPr>
        <p:txBody>
          <a:bodyPr wrap="square" lIns="146304" tIns="118872" rIns="146304" bIns="100584" rtlCol="0" anchor="t">
            <a:norm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</a:pPr>
            <a:r>
              <a:rPr lang="en-US" sz="1600" b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Other Details</a:t>
            </a:r>
          </a:p>
          <a:p>
            <a:pPr algn="l">
              <a:lnSpc>
                <a:spcPts val="1300"/>
              </a:lnSpc>
              <a:spcBef>
                <a:spcPts val="0"/>
              </a:spcBef>
            </a:pPr>
            <a:r>
              <a:rPr lang="en-US" sz="1200" b="1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THREAT MAP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Accurate 2D world map (react-simple-maps + GeoJSON) on Home, before the footer.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Pulsing animated markers on major world cities.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Auto-incrementing counters: attacks today, countries affected, threats blocked.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Country filter dropdown; top 5 attacked countries with bar indicators.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Attack types: Phishing, Malware, DDoS, Ransomware, Other.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Live feed of the last 5 alerts (type, location, time).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Stats panel beside the map on desktop, below it on tablet and mobile.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Colors match the site teal and blue palette; solid card background.</a:t>
            </a:r>
          </a:p>
          <a:p>
            <a:pPr algn="l">
              <a:lnSpc>
                <a:spcPts val="1300"/>
              </a:lnSpc>
              <a:spcBef>
                <a:spcPts val="640"/>
              </a:spcBef>
            </a:pPr>
            <a:r>
              <a:rPr lang="en-US" sz="1200" b="1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FOOTER PAGES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Terms — legally correct for an educational, non-commercial site (EN/IT).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Privacy — GDPR compliant (EN/IT).</a:t>
            </a:r>
          </a:p>
          <a:p>
            <a:pPr algn="l">
              <a:lnSpc>
                <a:spcPts val="1300"/>
              </a:lnSpc>
              <a:spcBef>
                <a:spcPts val="640"/>
              </a:spcBef>
            </a:pPr>
            <a:r>
              <a:rPr lang="en-US" sz="1200" b="1">
                <a:solidFill>
                  <a:srgbClr val="D9D2CB"/>
                </a:solidFill>
                <a:latin typeface="Poppins"/>
                <a:ea typeface="Poppins"/>
                <a:cs typeface="Poppins"/>
                <a:sym typeface="Poppins"/>
              </a:rPr>
              <a:t>LANGUAGE</a:t>
            </a:r>
          </a:p>
          <a:p>
            <a:pPr algn="l">
              <a:lnSpc>
                <a:spcPts val="1380"/>
              </a:lnSpc>
              <a:spcBef>
                <a:spcPts val="150"/>
              </a:spcBef>
            </a:pPr>
            <a:r>
              <a:rPr lang="en-US" sz="1200">
                <a:solidFill>
                  <a:srgbClr val="D3CAC2"/>
                </a:solidFill>
                <a:latin typeface="Poppins"/>
                <a:ea typeface="Poppins"/>
                <a:cs typeface="Poppins"/>
                <a:sym typeface="Poppins"/>
              </a:rPr>
              <a:t>Full EN/IT translation across all pages; toggles instantly, persists in localStorage.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050"/>
            <a:ext cx="18401813" cy="1638300"/>
          </a:xfrm>
          <a:custGeom>
            <a:avLst/>
            <a:gdLst/>
            <a:ahLst/>
            <a:cxnLst/>
            <a:rect l="l" t="t" r="r" b="b"/>
            <a:pathLst>
              <a:path w="18401813" h="1638300">
                <a:moveTo>
                  <a:pt x="0" y="0"/>
                </a:moveTo>
                <a:lnTo>
                  <a:pt x="18401813" y="0"/>
                </a:lnTo>
                <a:lnTo>
                  <a:pt x="18401813" y="1638300"/>
                </a:lnTo>
                <a:lnTo>
                  <a:pt x="0" y="163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 t="-133797" b="-536123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TextBox 3"/>
          <p:cNvSpPr txBox="1"/>
          <p:nvPr/>
        </p:nvSpPr>
        <p:spPr>
          <a:xfrm>
            <a:off x="1524000" y="361950"/>
            <a:ext cx="15240000" cy="6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20"/>
              </a:lnSpc>
              <a:spcBef>
                <a:spcPct val="0"/>
              </a:spcBef>
            </a:pPr>
            <a:r>
              <a:rPr lang="en-US" sz="3800" u="none" strike="noStrike">
                <a:solidFill>
                  <a:srgbClr val="E8E8E8"/>
                </a:solidFill>
                <a:latin typeface="Poppins"/>
                <a:ea typeface="Poppins"/>
                <a:cs typeface="Poppins"/>
                <a:sym typeface="Poppins"/>
              </a:rPr>
              <a:t>D A L   P R O M P T   A L   P R O G E T T O   L I V 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381500" y="1085850"/>
            <a:ext cx="9525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Vibe coding accelera il percorso, ma ogni fase ha un controllo.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52500" y="2171700"/>
            <a:ext cx="3924300" cy="3429000"/>
            <a:chOff x="0" y="0"/>
            <a:chExt cx="5232400" cy="4572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232400" cy="4572000"/>
            </a:xfrm>
            <a:custGeom>
              <a:avLst/>
              <a:gdLst/>
              <a:ahLst/>
              <a:cxnLst/>
              <a:rect l="l" t="t" r="r" b="b"/>
              <a:pathLst>
                <a:path w="5232400" h="4572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204695"/>
                    <a:pt x="5232400" y="457200"/>
                  </a:cubicBezTo>
                  <a:lnTo>
                    <a:pt x="5232400" y="4114800"/>
                  </a:lnTo>
                  <a:cubicBezTo>
                    <a:pt x="5232400" y="4367305"/>
                    <a:pt x="5027705" y="4572000"/>
                    <a:pt x="4775200" y="4572000"/>
                  </a:cubicBezTo>
                  <a:lnTo>
                    <a:pt x="457200" y="4572000"/>
                  </a:lnTo>
                  <a:cubicBezTo>
                    <a:pt x="204695" y="4572000"/>
                    <a:pt x="0" y="4367305"/>
                    <a:pt x="0" y="4114800"/>
                  </a:cubicBezTo>
                  <a:lnTo>
                    <a:pt x="0" y="457200"/>
                  </a:lnTo>
                  <a:cubicBezTo>
                    <a:pt x="0" y="204695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7000"/>
                  </a:srgbClr>
                </a:gs>
                <a:gs pos="100000">
                  <a:srgbClr val="555555">
                    <a:alpha val="7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6667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5232400" cy="461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43000" y="240982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5375" y="336232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COSTRUISCI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343150" y="3886200"/>
            <a:ext cx="1143000" cy="285750"/>
            <a:chOff x="0" y="0"/>
            <a:chExt cx="1524000" cy="381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2343150" y="390525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1-3 gg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95375" y="461010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Lovable · Bolt · v0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105400" y="2171700"/>
            <a:ext cx="3924300" cy="3429000"/>
            <a:chOff x="0" y="0"/>
            <a:chExt cx="5232400" cy="4572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232400" cy="4572000"/>
            </a:xfrm>
            <a:custGeom>
              <a:avLst/>
              <a:gdLst/>
              <a:ahLst/>
              <a:cxnLst/>
              <a:rect l="l" t="t" r="r" b="b"/>
              <a:pathLst>
                <a:path w="5232400" h="4572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204695"/>
                    <a:pt x="5232400" y="457200"/>
                  </a:cubicBezTo>
                  <a:lnTo>
                    <a:pt x="5232400" y="4114800"/>
                  </a:lnTo>
                  <a:cubicBezTo>
                    <a:pt x="5232400" y="4367305"/>
                    <a:pt x="5027705" y="4572000"/>
                    <a:pt x="4775200" y="4572000"/>
                  </a:cubicBezTo>
                  <a:lnTo>
                    <a:pt x="457200" y="4572000"/>
                  </a:lnTo>
                  <a:cubicBezTo>
                    <a:pt x="204695" y="4572000"/>
                    <a:pt x="0" y="4367305"/>
                    <a:pt x="0" y="4114800"/>
                  </a:cubicBezTo>
                  <a:lnTo>
                    <a:pt x="0" y="457200"/>
                  </a:lnTo>
                  <a:cubicBezTo>
                    <a:pt x="0" y="204695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5000"/>
                  </a:srgbClr>
                </a:gs>
                <a:gs pos="100000">
                  <a:srgbClr val="555555">
                    <a:alpha val="5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5232400" cy="461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95900" y="240982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48275" y="336232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DESIGN UI/UX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6496050" y="3886200"/>
            <a:ext cx="1143000" cy="285750"/>
            <a:chOff x="0" y="0"/>
            <a:chExt cx="1524000" cy="3810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6496050" y="390525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1-2 gg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248275" y="461010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Figma AI · Canva · Framer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258300" y="2171700"/>
            <a:ext cx="3924300" cy="3429000"/>
            <a:chOff x="0" y="0"/>
            <a:chExt cx="5232400" cy="4572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232400" cy="4572000"/>
            </a:xfrm>
            <a:custGeom>
              <a:avLst/>
              <a:gdLst/>
              <a:ahLst/>
              <a:cxnLst/>
              <a:rect l="l" t="t" r="r" b="b"/>
              <a:pathLst>
                <a:path w="5232400" h="4572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204695"/>
                    <a:pt x="5232400" y="457200"/>
                  </a:cubicBezTo>
                  <a:lnTo>
                    <a:pt x="5232400" y="4114800"/>
                  </a:lnTo>
                  <a:cubicBezTo>
                    <a:pt x="5232400" y="4367305"/>
                    <a:pt x="5027705" y="4572000"/>
                    <a:pt x="4775200" y="4572000"/>
                  </a:cubicBezTo>
                  <a:lnTo>
                    <a:pt x="457200" y="4572000"/>
                  </a:lnTo>
                  <a:cubicBezTo>
                    <a:pt x="204695" y="4572000"/>
                    <a:pt x="0" y="4367305"/>
                    <a:pt x="0" y="4114800"/>
                  </a:cubicBezTo>
                  <a:lnTo>
                    <a:pt x="0" y="457200"/>
                  </a:lnTo>
                  <a:cubicBezTo>
                    <a:pt x="0" y="204695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5000"/>
                  </a:srgbClr>
                </a:gs>
                <a:gs pos="100000">
                  <a:srgbClr val="555555">
                    <a:alpha val="5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5232400" cy="461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9448800" y="240982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01175" y="336232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TEST &amp; REVIEW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0648950" y="3886200"/>
            <a:ext cx="1143000" cy="285750"/>
            <a:chOff x="0" y="0"/>
            <a:chExt cx="1524000" cy="3810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0648950" y="390525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1-2 gg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401175" y="461010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Jest · Cypress · BrowserStack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13411200" y="2171700"/>
            <a:ext cx="3924300" cy="3429000"/>
            <a:chOff x="0" y="0"/>
            <a:chExt cx="5232400" cy="45720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5232400" cy="4572000"/>
            </a:xfrm>
            <a:custGeom>
              <a:avLst/>
              <a:gdLst/>
              <a:ahLst/>
              <a:cxnLst/>
              <a:rect l="l" t="t" r="r" b="b"/>
              <a:pathLst>
                <a:path w="5232400" h="4572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204695"/>
                    <a:pt x="5232400" y="457200"/>
                  </a:cubicBezTo>
                  <a:lnTo>
                    <a:pt x="5232400" y="4114800"/>
                  </a:lnTo>
                  <a:cubicBezTo>
                    <a:pt x="5232400" y="4367305"/>
                    <a:pt x="5027705" y="4572000"/>
                    <a:pt x="4775200" y="4572000"/>
                  </a:cubicBezTo>
                  <a:lnTo>
                    <a:pt x="457200" y="4572000"/>
                  </a:lnTo>
                  <a:cubicBezTo>
                    <a:pt x="204695" y="4572000"/>
                    <a:pt x="0" y="4367305"/>
                    <a:pt x="0" y="4114800"/>
                  </a:cubicBezTo>
                  <a:lnTo>
                    <a:pt x="0" y="457200"/>
                  </a:lnTo>
                  <a:cubicBezTo>
                    <a:pt x="0" y="204695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5000"/>
                  </a:srgbClr>
                </a:gs>
                <a:gs pos="100000">
                  <a:srgbClr val="555555">
                    <a:alpha val="5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38100"/>
              <a:ext cx="5232400" cy="461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3601700" y="240982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04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3554075" y="336232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SECURITY AUDIT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4801850" y="3886200"/>
            <a:ext cx="1143000" cy="285750"/>
            <a:chOff x="0" y="0"/>
            <a:chExt cx="1524000" cy="3810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4801850" y="390525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 giorno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3554075" y="461010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OWASP ZAP · Snyk · Semgrep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952500" y="5829300"/>
            <a:ext cx="3924300" cy="3429000"/>
            <a:chOff x="0" y="0"/>
            <a:chExt cx="5232400" cy="45720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232400" cy="4572000"/>
            </a:xfrm>
            <a:custGeom>
              <a:avLst/>
              <a:gdLst/>
              <a:ahLst/>
              <a:cxnLst/>
              <a:rect l="l" t="t" r="r" b="b"/>
              <a:pathLst>
                <a:path w="5232400" h="4572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204695"/>
                    <a:pt x="5232400" y="457200"/>
                  </a:cubicBezTo>
                  <a:lnTo>
                    <a:pt x="5232400" y="4114800"/>
                  </a:lnTo>
                  <a:cubicBezTo>
                    <a:pt x="5232400" y="4367305"/>
                    <a:pt x="5027705" y="4572000"/>
                    <a:pt x="4775200" y="4572000"/>
                  </a:cubicBezTo>
                  <a:lnTo>
                    <a:pt x="457200" y="4572000"/>
                  </a:lnTo>
                  <a:cubicBezTo>
                    <a:pt x="204695" y="4572000"/>
                    <a:pt x="0" y="4367305"/>
                    <a:pt x="0" y="4114800"/>
                  </a:cubicBezTo>
                  <a:lnTo>
                    <a:pt x="0" y="457200"/>
                  </a:lnTo>
                  <a:cubicBezTo>
                    <a:pt x="0" y="204695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5000"/>
                  </a:srgbClr>
                </a:gs>
                <a:gs pos="100000">
                  <a:srgbClr val="555555">
                    <a:alpha val="5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0" y="-38100"/>
              <a:ext cx="5232400" cy="461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143000" y="606742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95375" y="701992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VERSION CTRL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2343150" y="7543800"/>
            <a:ext cx="1143000" cy="285750"/>
            <a:chOff x="0" y="0"/>
            <a:chExt cx="1524000" cy="3810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2343150" y="756285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10 min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95375" y="826770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GitHub · GitLab</a:t>
            </a:r>
          </a:p>
        </p:txBody>
      </p:sp>
      <p:grpSp>
        <p:nvGrpSpPr>
          <p:cNvPr id="55" name="Group 55"/>
          <p:cNvGrpSpPr/>
          <p:nvPr/>
        </p:nvGrpSpPr>
        <p:grpSpPr>
          <a:xfrm>
            <a:off x="5105400" y="5829300"/>
            <a:ext cx="3924300" cy="3429000"/>
            <a:chOff x="0" y="0"/>
            <a:chExt cx="5232400" cy="45720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5232400" cy="4572000"/>
            </a:xfrm>
            <a:custGeom>
              <a:avLst/>
              <a:gdLst/>
              <a:ahLst/>
              <a:cxnLst/>
              <a:rect l="l" t="t" r="r" b="b"/>
              <a:pathLst>
                <a:path w="5232400" h="4572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204695"/>
                    <a:pt x="5232400" y="457200"/>
                  </a:cubicBezTo>
                  <a:lnTo>
                    <a:pt x="5232400" y="4114800"/>
                  </a:lnTo>
                  <a:cubicBezTo>
                    <a:pt x="5232400" y="4367305"/>
                    <a:pt x="5027705" y="4572000"/>
                    <a:pt x="4775200" y="4572000"/>
                  </a:cubicBezTo>
                  <a:lnTo>
                    <a:pt x="457200" y="4572000"/>
                  </a:lnTo>
                  <a:cubicBezTo>
                    <a:pt x="204695" y="4572000"/>
                    <a:pt x="0" y="4367305"/>
                    <a:pt x="0" y="4114800"/>
                  </a:cubicBezTo>
                  <a:lnTo>
                    <a:pt x="0" y="457200"/>
                  </a:lnTo>
                  <a:cubicBezTo>
                    <a:pt x="0" y="204695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5000"/>
                  </a:srgbClr>
                </a:gs>
                <a:gs pos="100000">
                  <a:srgbClr val="555555">
                    <a:alpha val="5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38100"/>
              <a:ext cx="5232400" cy="461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58" name="TextBox 58"/>
          <p:cNvSpPr txBox="1"/>
          <p:nvPr/>
        </p:nvSpPr>
        <p:spPr>
          <a:xfrm>
            <a:off x="5295900" y="606742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06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248275" y="701992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DEPLOY</a:t>
            </a:r>
          </a:p>
        </p:txBody>
      </p:sp>
      <p:grpSp>
        <p:nvGrpSpPr>
          <p:cNvPr id="60" name="Group 60"/>
          <p:cNvGrpSpPr/>
          <p:nvPr/>
        </p:nvGrpSpPr>
        <p:grpSpPr>
          <a:xfrm>
            <a:off x="6496050" y="7543800"/>
            <a:ext cx="1143000" cy="285750"/>
            <a:chOff x="0" y="0"/>
            <a:chExt cx="1524000" cy="38100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6496050" y="756285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15 min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248275" y="826770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Vercel · Netlify · Render</a:t>
            </a:r>
          </a:p>
        </p:txBody>
      </p:sp>
      <p:grpSp>
        <p:nvGrpSpPr>
          <p:cNvPr id="65" name="Group 65"/>
          <p:cNvGrpSpPr/>
          <p:nvPr/>
        </p:nvGrpSpPr>
        <p:grpSpPr>
          <a:xfrm>
            <a:off x="9258300" y="5829300"/>
            <a:ext cx="3924300" cy="3429000"/>
            <a:chOff x="0" y="0"/>
            <a:chExt cx="5232400" cy="4572000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5232400" cy="4572000"/>
            </a:xfrm>
            <a:custGeom>
              <a:avLst/>
              <a:gdLst/>
              <a:ahLst/>
              <a:cxnLst/>
              <a:rect l="l" t="t" r="r" b="b"/>
              <a:pathLst>
                <a:path w="5232400" h="4572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204695"/>
                    <a:pt x="5232400" y="457200"/>
                  </a:cubicBezTo>
                  <a:lnTo>
                    <a:pt x="5232400" y="4114800"/>
                  </a:lnTo>
                  <a:cubicBezTo>
                    <a:pt x="5232400" y="4367305"/>
                    <a:pt x="5027705" y="4572000"/>
                    <a:pt x="4775200" y="4572000"/>
                  </a:cubicBezTo>
                  <a:lnTo>
                    <a:pt x="457200" y="4572000"/>
                  </a:lnTo>
                  <a:cubicBezTo>
                    <a:pt x="204695" y="4572000"/>
                    <a:pt x="0" y="4367305"/>
                    <a:pt x="0" y="4114800"/>
                  </a:cubicBezTo>
                  <a:lnTo>
                    <a:pt x="0" y="457200"/>
                  </a:lnTo>
                  <a:cubicBezTo>
                    <a:pt x="0" y="204695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5000"/>
                  </a:srgbClr>
                </a:gs>
                <a:gs pos="100000">
                  <a:srgbClr val="555555">
                    <a:alpha val="5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38100"/>
              <a:ext cx="5232400" cy="461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68" name="TextBox 68"/>
          <p:cNvSpPr txBox="1"/>
          <p:nvPr/>
        </p:nvSpPr>
        <p:spPr>
          <a:xfrm>
            <a:off x="9448800" y="606742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07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9401175" y="701992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DOMAIN</a:t>
            </a:r>
          </a:p>
        </p:txBody>
      </p:sp>
      <p:grpSp>
        <p:nvGrpSpPr>
          <p:cNvPr id="70" name="Group 70"/>
          <p:cNvGrpSpPr/>
          <p:nvPr/>
        </p:nvGrpSpPr>
        <p:grpSpPr>
          <a:xfrm>
            <a:off x="10648950" y="7543800"/>
            <a:ext cx="1143000" cy="285750"/>
            <a:chOff x="0" y="0"/>
            <a:chExt cx="1524000" cy="38100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10648950" y="756285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30 min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9401175" y="826770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Cloudflare · Namecheap</a:t>
            </a:r>
          </a:p>
        </p:txBody>
      </p:sp>
      <p:grpSp>
        <p:nvGrpSpPr>
          <p:cNvPr id="75" name="Group 75"/>
          <p:cNvGrpSpPr/>
          <p:nvPr/>
        </p:nvGrpSpPr>
        <p:grpSpPr>
          <a:xfrm>
            <a:off x="13411200" y="5829300"/>
            <a:ext cx="3924300" cy="3429000"/>
            <a:chOff x="0" y="0"/>
            <a:chExt cx="5232400" cy="4572000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5232400" cy="4572000"/>
            </a:xfrm>
            <a:custGeom>
              <a:avLst/>
              <a:gdLst/>
              <a:ahLst/>
              <a:cxnLst/>
              <a:rect l="l" t="t" r="r" b="b"/>
              <a:pathLst>
                <a:path w="5232400" h="4572000">
                  <a:moveTo>
                    <a:pt x="457200" y="0"/>
                  </a:moveTo>
                  <a:lnTo>
                    <a:pt x="4775200" y="0"/>
                  </a:lnTo>
                  <a:cubicBezTo>
                    <a:pt x="5027705" y="0"/>
                    <a:pt x="5232400" y="204695"/>
                    <a:pt x="5232400" y="457200"/>
                  </a:cubicBezTo>
                  <a:lnTo>
                    <a:pt x="5232400" y="4114800"/>
                  </a:lnTo>
                  <a:cubicBezTo>
                    <a:pt x="5232400" y="4367305"/>
                    <a:pt x="5027705" y="4572000"/>
                    <a:pt x="4775200" y="4572000"/>
                  </a:cubicBezTo>
                  <a:lnTo>
                    <a:pt x="457200" y="4572000"/>
                  </a:lnTo>
                  <a:cubicBezTo>
                    <a:pt x="204695" y="4572000"/>
                    <a:pt x="0" y="4367305"/>
                    <a:pt x="0" y="4114800"/>
                  </a:cubicBezTo>
                  <a:lnTo>
                    <a:pt x="0" y="457200"/>
                  </a:lnTo>
                  <a:cubicBezTo>
                    <a:pt x="0" y="204695"/>
                    <a:pt x="204695" y="0"/>
                    <a:pt x="4572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5000"/>
                  </a:srgbClr>
                </a:gs>
                <a:gs pos="100000">
                  <a:srgbClr val="555555">
                    <a:alpha val="5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4706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38100"/>
              <a:ext cx="5232400" cy="4610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8" name="TextBox 78"/>
          <p:cNvSpPr txBox="1"/>
          <p:nvPr/>
        </p:nvSpPr>
        <p:spPr>
          <a:xfrm>
            <a:off x="13601700" y="6067425"/>
            <a:ext cx="354330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719"/>
              </a:lnSpc>
              <a:spcBef>
                <a:spcPct val="0"/>
              </a:spcBef>
            </a:pPr>
            <a:r>
              <a:rPr lang="en-US" sz="4800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08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3554075" y="7019925"/>
            <a:ext cx="363855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SHARE</a:t>
            </a:r>
          </a:p>
        </p:txBody>
      </p:sp>
      <p:grpSp>
        <p:nvGrpSpPr>
          <p:cNvPr id="80" name="Group 80"/>
          <p:cNvGrpSpPr/>
          <p:nvPr/>
        </p:nvGrpSpPr>
        <p:grpSpPr>
          <a:xfrm>
            <a:off x="14801850" y="7543800"/>
            <a:ext cx="1143000" cy="285750"/>
            <a:chOff x="0" y="0"/>
            <a:chExt cx="1524000" cy="381000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1524000" cy="381000"/>
            </a:xfrm>
            <a:custGeom>
              <a:avLst/>
              <a:gdLst/>
              <a:ahLst/>
              <a:cxnLst/>
              <a:rect l="l" t="t" r="r" b="b"/>
              <a:pathLst>
                <a:path w="1524000" h="381000">
                  <a:moveTo>
                    <a:pt x="1333500" y="0"/>
                  </a:moveTo>
                  <a:cubicBezTo>
                    <a:pt x="1438710" y="0"/>
                    <a:pt x="1524000" y="85290"/>
                    <a:pt x="1524000" y="190500"/>
                  </a:cubicBezTo>
                  <a:cubicBezTo>
                    <a:pt x="1524000" y="295710"/>
                    <a:pt x="1438710" y="381000"/>
                    <a:pt x="1333500" y="381000"/>
                  </a:cubicBezTo>
                  <a:lnTo>
                    <a:pt x="190500" y="381000"/>
                  </a:lnTo>
                  <a:cubicBezTo>
                    <a:pt x="85290" y="381000"/>
                    <a:pt x="0" y="295710"/>
                    <a:pt x="0" y="190500"/>
                  </a:cubicBez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555555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0" y="-38100"/>
              <a:ext cx="1524000" cy="419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3" name="TextBox 83"/>
          <p:cNvSpPr txBox="1"/>
          <p:nvPr/>
        </p:nvSpPr>
        <p:spPr>
          <a:xfrm>
            <a:off x="14801850" y="7562850"/>
            <a:ext cx="1143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now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3554075" y="8267700"/>
            <a:ext cx="363855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QR · GitHub · links page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5372100" y="9344025"/>
            <a:ext cx="7620000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79"/>
              </a:lnSpc>
              <a:spcBef>
                <a:spcPct val="0"/>
              </a:spcBef>
            </a:pPr>
            <a:r>
              <a:rPr lang="en-US" sz="1200" i="1" u="none" strike="noStrike">
                <a:solidFill>
                  <a:srgbClr val="555555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Vibe coding amplifica le tue competenze — non le sostituisce.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429000" y="629285"/>
            <a:ext cx="11430000" cy="684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20"/>
              </a:lnSpc>
              <a:spcBef>
                <a:spcPct val="0"/>
              </a:spcBef>
            </a:pPr>
            <a:r>
              <a:rPr lang="en-US" sz="3800">
                <a:solidFill>
                  <a:srgbClr val="E8E8E8"/>
                </a:solidFill>
                <a:latin typeface="Poppins"/>
                <a:ea typeface="Poppins"/>
                <a:cs typeface="Poppins"/>
                <a:sym typeface="Poppins"/>
              </a:rPr>
              <a:t>CONCLUSIONI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857750" y="1354443"/>
            <a:ext cx="85725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Potente, se la sicurezza resta parte del processo.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894541" y="2075803"/>
            <a:ext cx="7669243" cy="6135395"/>
            <a:chOff x="0" y="0"/>
            <a:chExt cx="9525000" cy="7620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525000" cy="7620000"/>
            </a:xfrm>
            <a:custGeom>
              <a:avLst/>
              <a:gdLst/>
              <a:ahLst/>
              <a:cxnLst/>
              <a:rect l="l" t="t" r="r" b="b"/>
              <a:pathLst>
                <a:path w="9525000" h="7620000">
                  <a:moveTo>
                    <a:pt x="762000" y="0"/>
                  </a:moveTo>
                  <a:lnTo>
                    <a:pt x="8763000" y="0"/>
                  </a:lnTo>
                  <a:cubicBezTo>
                    <a:pt x="9183841" y="0"/>
                    <a:pt x="9525000" y="341159"/>
                    <a:pt x="9525000" y="762000"/>
                  </a:cubicBezTo>
                  <a:lnTo>
                    <a:pt x="9525000" y="6858000"/>
                  </a:lnTo>
                  <a:cubicBezTo>
                    <a:pt x="9525000" y="7278841"/>
                    <a:pt x="9183841" y="7620000"/>
                    <a:pt x="8763000" y="7620000"/>
                  </a:cubicBezTo>
                  <a:lnTo>
                    <a:pt x="762000" y="7620000"/>
                  </a:lnTo>
                  <a:cubicBezTo>
                    <a:pt x="341159" y="7620000"/>
                    <a:pt x="0" y="7278841"/>
                    <a:pt x="0" y="6858000"/>
                  </a:cubicBezTo>
                  <a:lnTo>
                    <a:pt x="0" y="762000"/>
                  </a:lnTo>
                  <a:cubicBezTo>
                    <a:pt x="0" y="341159"/>
                    <a:pt x="341159" y="0"/>
                    <a:pt x="7620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2000"/>
                  </a:srgbClr>
                </a:gs>
                <a:gs pos="100000">
                  <a:srgbClr val="555555">
                    <a:alpha val="12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1765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9525000" cy="7667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9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706597" y="2288648"/>
            <a:ext cx="2045132" cy="43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06"/>
              </a:lnSpc>
              <a:spcBef>
                <a:spcPct val="0"/>
              </a:spcBef>
            </a:pPr>
            <a:r>
              <a:rPr lang="en-US" sz="2361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PRO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08080" y="3013969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MVP in 3-5 giorni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08080" y="3934278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Accessibile a tutti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08080" y="4854587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Più spazio alla creatività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08080" y="5774896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Costo di validazione ridotto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08080" y="6695206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✓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Iterazione rapida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9724216" y="2075803"/>
            <a:ext cx="7669243" cy="6135395"/>
            <a:chOff x="0" y="0"/>
            <a:chExt cx="9525000" cy="7620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525000" cy="7620000"/>
            </a:xfrm>
            <a:custGeom>
              <a:avLst/>
              <a:gdLst/>
              <a:ahLst/>
              <a:cxnLst/>
              <a:rect l="l" t="t" r="r" b="b"/>
              <a:pathLst>
                <a:path w="9525000" h="7620000">
                  <a:moveTo>
                    <a:pt x="762000" y="0"/>
                  </a:moveTo>
                  <a:lnTo>
                    <a:pt x="8763000" y="0"/>
                  </a:lnTo>
                  <a:cubicBezTo>
                    <a:pt x="9183841" y="0"/>
                    <a:pt x="9525000" y="341159"/>
                    <a:pt x="9525000" y="762000"/>
                  </a:cubicBezTo>
                  <a:lnTo>
                    <a:pt x="9525000" y="6858000"/>
                  </a:lnTo>
                  <a:cubicBezTo>
                    <a:pt x="9525000" y="7278841"/>
                    <a:pt x="9183841" y="7620000"/>
                    <a:pt x="8763000" y="7620000"/>
                  </a:cubicBezTo>
                  <a:lnTo>
                    <a:pt x="762000" y="7620000"/>
                  </a:lnTo>
                  <a:cubicBezTo>
                    <a:pt x="341159" y="7620000"/>
                    <a:pt x="0" y="7278841"/>
                    <a:pt x="0" y="6858000"/>
                  </a:cubicBezTo>
                  <a:lnTo>
                    <a:pt x="0" y="762000"/>
                  </a:lnTo>
                  <a:cubicBezTo>
                    <a:pt x="0" y="341159"/>
                    <a:pt x="341159" y="0"/>
                    <a:pt x="7620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13000"/>
                  </a:srgbClr>
                </a:gs>
                <a:gs pos="100000">
                  <a:srgbClr val="555555">
                    <a:alpha val="13000"/>
                  </a:srgbClr>
                </a:gs>
              </a:gsLst>
              <a:lin ang="5400000"/>
            </a:gradFill>
            <a:ln w="9525" cap="sq">
              <a:solidFill>
                <a:srgbClr val="444444">
                  <a:alpha val="12941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9525000" cy="7667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959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536272" y="2288648"/>
            <a:ext cx="2045132" cy="435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06"/>
              </a:lnSpc>
              <a:spcBef>
                <a:spcPct val="0"/>
              </a:spcBef>
            </a:pPr>
            <a:r>
              <a:rPr lang="en-US" sz="2361" u="none" strike="noStrike">
                <a:gradFill>
                  <a:gsLst>
                    <a:gs pos="0">
                      <a:srgbClr val="888888">
                        <a:alpha val="100000"/>
                      </a:srgbClr>
                    </a:gs>
                    <a:gs pos="100000">
                      <a:srgbClr val="E8E8E8">
                        <a:alpha val="100000"/>
                      </a:srgbClr>
                    </a:gs>
                  </a:gsLst>
                  <a:lin ang="0"/>
                </a:gradFill>
                <a:latin typeface="Poppins"/>
                <a:ea typeface="Poppins"/>
                <a:cs typeface="Poppins"/>
                <a:sym typeface="Poppins"/>
              </a:rPr>
              <a:t>CONTRO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337755" y="3013969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Sicurezza a rischio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337755" y="3934278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Debug più complesso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337755" y="4854587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Fiducia in calo: 29%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337755" y="5774896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Richiede basi tecniche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337755" y="6695206"/>
            <a:ext cx="6646677" cy="390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5"/>
              </a:lnSpc>
              <a:spcBef>
                <a:spcPct val="0"/>
              </a:spcBef>
            </a:pPr>
            <a:r>
              <a:rPr lang="en-US" sz="2147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!</a:t>
            </a:r>
            <a:r>
              <a:rPr lang="en-US" sz="2147" u="none" strike="noStrike">
                <a:solidFill>
                  <a:srgbClr val="CCCCCC"/>
                </a:solidFill>
                <a:latin typeface="Poppins"/>
                <a:ea typeface="Poppins"/>
                <a:cs typeface="Poppins"/>
                <a:sym typeface="Poppins"/>
              </a:rPr>
              <a:t>  Allucinazioni plausibili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6286500" y="9020175"/>
            <a:ext cx="5715000" cy="476250"/>
            <a:chOff x="0" y="0"/>
            <a:chExt cx="7620000" cy="6350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620000" cy="635000"/>
            </a:xfrm>
            <a:custGeom>
              <a:avLst/>
              <a:gdLst/>
              <a:ahLst/>
              <a:cxnLst/>
              <a:rect l="l" t="t" r="r" b="b"/>
              <a:pathLst>
                <a:path w="7620000" h="635000">
                  <a:moveTo>
                    <a:pt x="7302500" y="0"/>
                  </a:moveTo>
                  <a:cubicBezTo>
                    <a:pt x="7477851" y="0"/>
                    <a:pt x="7620000" y="142150"/>
                    <a:pt x="7620000" y="317500"/>
                  </a:cubicBezTo>
                  <a:cubicBezTo>
                    <a:pt x="7620000" y="492850"/>
                    <a:pt x="7477851" y="635000"/>
                    <a:pt x="7302500" y="635000"/>
                  </a:cubicBezTo>
                  <a:lnTo>
                    <a:pt x="317500" y="635000"/>
                  </a:lnTo>
                  <a:cubicBezTo>
                    <a:pt x="142150" y="635000"/>
                    <a:pt x="0" y="492850"/>
                    <a:pt x="0" y="317500"/>
                  </a:cubicBezTo>
                  <a:cubicBezTo>
                    <a:pt x="0" y="142150"/>
                    <a:pt x="142150" y="0"/>
                    <a:pt x="3175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C0C0C0">
                    <a:alpha val="8000"/>
                  </a:srgbClr>
                </a:gs>
                <a:gs pos="100000">
                  <a:srgbClr val="555555">
                    <a:alpha val="8000"/>
                  </a:srgbClr>
                </a:gs>
              </a:gsLst>
              <a:lin ang="5400000"/>
            </a:gradFill>
            <a:ln w="9525" cap="sq">
              <a:solidFill>
                <a:srgbClr val="666666">
                  <a:alpha val="7843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7620000" cy="673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099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524625" y="9033510"/>
            <a:ext cx="5238750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39"/>
              </a:lnSpc>
              <a:spcBef>
                <a:spcPct val="0"/>
              </a:spcBef>
            </a:pPr>
            <a:r>
              <a:rPr lang="en-US" sz="2099" u="none" strike="noStrike">
                <a:solidFill>
                  <a:srgbClr val="E8E8E8"/>
                </a:solidFill>
                <a:latin typeface="Poppins"/>
                <a:ea typeface="Poppins"/>
                <a:cs typeface="Poppins"/>
                <a:sym typeface="Poppins"/>
              </a:rPr>
              <a:t>Learn first. Then vibe.</a:t>
            </a:r>
          </a:p>
        </p:txBody>
      </p:sp>
      <p:sp>
        <p:nvSpPr>
          <p:cNvPr id="26" name="Freeform 26"/>
          <p:cNvSpPr/>
          <p:nvPr/>
        </p:nvSpPr>
        <p:spPr>
          <a:xfrm>
            <a:off x="-56906" y="8648700"/>
            <a:ext cx="18401813" cy="1638300"/>
          </a:xfrm>
          <a:custGeom>
            <a:avLst/>
            <a:gdLst/>
            <a:ahLst/>
            <a:cxnLst/>
            <a:rect l="l" t="t" r="r" b="b"/>
            <a:pathLst>
              <a:path w="18401813" h="1638300">
                <a:moveTo>
                  <a:pt x="0" y="0"/>
                </a:moveTo>
                <a:lnTo>
                  <a:pt x="18401812" y="0"/>
                </a:lnTo>
                <a:lnTo>
                  <a:pt x="18401812" y="1638300"/>
                </a:lnTo>
                <a:lnTo>
                  <a:pt x="0" y="1638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</a:blip>
            <a:stretch>
              <a:fillRect t="-133797" b="-536123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27" name="TextBox 27"/>
          <p:cNvSpPr txBox="1"/>
          <p:nvPr/>
        </p:nvSpPr>
        <p:spPr>
          <a:xfrm>
            <a:off x="4381500" y="9680624"/>
            <a:ext cx="9525000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40"/>
              </a:lnSpc>
              <a:spcBef>
                <a:spcPct val="0"/>
              </a:spcBef>
            </a:pPr>
            <a:r>
              <a:rPr lang="en-US" sz="1100" i="1" u="none" strike="noStrike">
                <a:solidFill>
                  <a:srgbClr val="777777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La differenza tra demo interessante e prodotto sicuro è la revisione umana.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92774" y="-332021"/>
            <a:ext cx="18926056" cy="4392159"/>
          </a:xfrm>
          <a:custGeom>
            <a:avLst/>
            <a:gdLst/>
            <a:ahLst/>
            <a:cxnLst/>
            <a:rect l="l" t="t" r="r" b="b"/>
            <a:pathLst>
              <a:path w="18926056" h="4392159">
                <a:moveTo>
                  <a:pt x="0" y="0"/>
                </a:moveTo>
                <a:lnTo>
                  <a:pt x="18926056" y="0"/>
                </a:lnTo>
                <a:lnTo>
                  <a:pt x="18926056" y="4392159"/>
                </a:lnTo>
                <a:lnTo>
                  <a:pt x="0" y="43921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8000"/>
            </a:blip>
            <a:stretch>
              <a:fillRect t="-161609" b="-33756"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TextBox 3"/>
          <p:cNvSpPr txBox="1"/>
          <p:nvPr/>
        </p:nvSpPr>
        <p:spPr>
          <a:xfrm>
            <a:off x="0" y="1349892"/>
            <a:ext cx="18288000" cy="1343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499"/>
              </a:lnSpc>
              <a:spcBef>
                <a:spcPct val="0"/>
              </a:spcBef>
            </a:pPr>
            <a:r>
              <a:rPr lang="en-US" sz="7499" u="none" strike="noStrike">
                <a:gradFill>
                  <a:gsLst>
                    <a:gs pos="0">
                      <a:srgbClr val="C0C0C0">
                        <a:alpha val="100000"/>
                      </a:srgbClr>
                    </a:gs>
                    <a:gs pos="100000">
                      <a:srgbClr val="555555">
                        <a:alpha val="100000"/>
                      </a:srgbClr>
                    </a:gs>
                  </a:gsLst>
                  <a:lin ang="5400000"/>
                </a:gradFill>
                <a:latin typeface="Poppins"/>
                <a:ea typeface="Poppins"/>
                <a:cs typeface="Poppins"/>
                <a:sym typeface="Poppins"/>
              </a:rPr>
              <a:t>G R A Z I E   ·   T H A N K   Y O 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046778" y="6742419"/>
            <a:ext cx="381000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u="none" strike="noStrike">
                <a:solidFill>
                  <a:srgbClr val="C0C0C0"/>
                </a:solidFill>
                <a:latin typeface="Poppins"/>
                <a:ea typeface="Poppins"/>
                <a:cs typeface="Poppins"/>
                <a:sym typeface="Poppins"/>
              </a:rPr>
              <a:t>teodorina.tech/links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4278" y="7256769"/>
            <a:ext cx="5715000" cy="39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079"/>
              </a:lnSpc>
              <a:spcBef>
                <a:spcPct val="0"/>
              </a:spcBef>
            </a:pPr>
            <a:r>
              <a:rPr lang="en-US" sz="2199" u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Teodorina Lungu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94278" y="7704444"/>
            <a:ext cx="57150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6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777777"/>
                </a:solidFill>
                <a:latin typeface="Poppins"/>
                <a:ea typeface="Poppins"/>
                <a:cs typeface="Poppins"/>
                <a:sym typeface="Poppins"/>
              </a:rPr>
              <a:t>teodorina.tech · info@teodorina.tech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18028" y="8114019"/>
            <a:ext cx="6667500" cy="557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4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Cybersecurity: Una Gara da Vincere</a:t>
            </a:r>
          </a:p>
          <a:p>
            <a:pPr marL="0" lvl="0" indent="0" algn="ctr">
              <a:lnSpc>
                <a:spcPts val="2240"/>
              </a:lnSpc>
              <a:spcBef>
                <a:spcPct val="0"/>
              </a:spcBef>
            </a:pPr>
            <a:r>
              <a:rPr lang="en-US" sz="1400" u="none" strike="noStrike">
                <a:solidFill>
                  <a:srgbClr val="999999"/>
                </a:solidFill>
                <a:latin typeface="Poppins"/>
                <a:ea typeface="Poppins"/>
                <a:cs typeface="Poppins"/>
                <a:sym typeface="Poppins"/>
              </a:rPr>
              <a:t>5a Edizione · Imola · 17 Giugno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046778" y="9228444"/>
            <a:ext cx="3810000" cy="259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60"/>
              </a:lnSpc>
              <a:spcBef>
                <a:spcPct val="0"/>
              </a:spcBef>
            </a:pPr>
            <a:r>
              <a:rPr lang="en-US" sz="1400" i="1" u="none" strike="noStrike">
                <a:solidFill>
                  <a:srgbClr val="555555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"In data we trust."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1274</Words>
  <Application>Microsoft Office PowerPoint</Application>
  <PresentationFormat>Custom</PresentationFormat>
  <Paragraphs>244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Poppins Italics</vt:lpstr>
      <vt:lpstr>Poppins</vt:lpstr>
      <vt:lpstr>Arial</vt:lpstr>
      <vt:lpstr>Poppins Medium</vt:lpstr>
      <vt:lpstr>Poppins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RACE TO WIN</dc:title>
  <cp:lastModifiedBy>Teodorina Lungu</cp:lastModifiedBy>
  <cp:revision>3</cp:revision>
  <dcterms:created xsi:type="dcterms:W3CDTF">2006-08-16T00:00:00Z</dcterms:created>
  <dcterms:modified xsi:type="dcterms:W3CDTF">2026-06-16T13:48:48Z</dcterms:modified>
  <dc:identifier>DAHLV8OntDk</dc:identifier>
</cp:coreProperties>
</file>